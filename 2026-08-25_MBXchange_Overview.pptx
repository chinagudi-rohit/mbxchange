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framing: MBXchange makes willing bandwidth and cross-team requests findable across the whole organisation. Say "bandwidth people choose to offer", never "spare capacity" — this is not a utilisation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reach past the team boundary — that is the part leadership already feels the absence of. Note the ceiling: this works the same way between departments and between MB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spine first, then point at each surface. Do not read the cards out — they are signposts for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live. Q2 (whose budget) and Q4 (recognition data governance) are the two that decide the room. On Q4: the score is private to the person and their manager, it feeds no review, and the platform is positioned for upskilling and collaboration, not advancement.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736"/>
        </a:solidFill>
      </p:bgPr>
    </p:bg>
    <p:spTree>
      <p:nvGrpSpPr>
        <p:cNvPr id="1" name=""/>
        <p:cNvGrpSpPr/>
        <p:nvPr/>
      </p:nvGrpSpPr>
      <p:grpSpPr>
        <a:xfrm>
          <a:off x="0" y="0"/>
          <a:ext cx="0" cy="0"/>
          <a:chOff x="0" y="0"/>
          <a:chExt cx="0" cy="0"/>
        </a:xfrm>
      </p:grpSpPr>
      <p:sp>
        <p:nvSpPr>
          <p:cNvPr id="2" name="Text 0"/>
          <p:cNvSpPr txBox="1"/>
          <p:nvPr/>
        </p:nvSpPr>
        <p:spPr>
          <a:xfrm>
            <a:off x="594360" y="566928"/>
            <a:ext cx="7315200" cy="256032"/>
          </a:xfrm>
          <a:prstGeom prst="rect">
            <a:avLst/>
          </a:prstGeom>
          <a:noFill/>
          <a:ln/>
        </p:spPr>
        <p:txBody>
          <a:bodyPr wrap="square" lIns="0" tIns="0" rIns="0" bIns="0" rtlCol="0" anchor="ctr"/>
          <a:lstStyle/>
          <a:p>
            <a:pPr indent="0" marL="0">
              <a:buNone/>
            </a:pPr>
            <a:r>
              <a:rPr lang="en-US" sz="1100" b="1" spc="160" kern="0" dirty="0">
                <a:solidFill>
                  <a:srgbClr val="8A9DB4"/>
                </a:solidFill>
                <a:latin typeface="Calibri" pitchFamily="34" charset="0"/>
                <a:ea typeface="Calibri" pitchFamily="34" charset="-122"/>
                <a:cs typeface="Calibri" pitchFamily="34" charset="-120"/>
              </a:rPr>
              <a:t>INTERNAL PLATFORM  ·  MERCEDES-BENZ</a:t>
            </a:r>
            <a:endParaRPr lang="en-US" sz="1100" dirty="0"/>
          </a:p>
        </p:txBody>
      </p:sp>
      <p:sp>
        <p:nvSpPr>
          <p:cNvPr id="3" name="Text 1"/>
          <p:cNvSpPr txBox="1"/>
          <p:nvPr/>
        </p:nvSpPr>
        <p:spPr>
          <a:xfrm>
            <a:off x="594360" y="932688"/>
            <a:ext cx="7315200" cy="86868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MB</a:t>
            </a:r>
            <a:pPr indent="0" marL="0">
              <a:buNone/>
            </a:pPr>
            <a:r>
              <a:rPr lang="en-US" sz="4800" b="1" dirty="0">
                <a:solidFill>
                  <a:srgbClr val="69AAF2"/>
                </a:solidFill>
                <a:latin typeface="Calibri" pitchFamily="34" charset="0"/>
                <a:ea typeface="Calibri" pitchFamily="34" charset="-122"/>
                <a:cs typeface="Calibri" pitchFamily="34" charset="-120"/>
              </a:rPr>
              <a:t>X</a:t>
            </a:r>
            <a:pPr indent="0" marL="0">
              <a:buNone/>
            </a:pPr>
            <a:r>
              <a:rPr lang="en-US" sz="4800" b="1" dirty="0">
                <a:solidFill>
                  <a:srgbClr val="FFFFFF"/>
                </a:solidFill>
                <a:latin typeface="Calibri" pitchFamily="34" charset="0"/>
                <a:ea typeface="Calibri" pitchFamily="34" charset="-122"/>
                <a:cs typeface="Calibri" pitchFamily="34" charset="-120"/>
              </a:rPr>
              <a:t>change</a:t>
            </a:r>
            <a:endParaRPr lang="en-US" sz="4800" dirty="0"/>
          </a:p>
        </p:txBody>
      </p:sp>
      <p:sp>
        <p:nvSpPr>
          <p:cNvPr id="4" name="Text 2"/>
          <p:cNvSpPr txBox="1"/>
          <p:nvPr/>
        </p:nvSpPr>
        <p:spPr>
          <a:xfrm>
            <a:off x="594360" y="1847088"/>
            <a:ext cx="6949440" cy="457200"/>
          </a:xfrm>
          <a:prstGeom prst="rect">
            <a:avLst/>
          </a:prstGeom>
          <a:noFill/>
          <a:ln/>
        </p:spPr>
        <p:txBody>
          <a:bodyPr wrap="square" lIns="0" tIns="0" rIns="0" bIns="0" rtlCol="0" anchor="ctr"/>
          <a:lstStyle/>
          <a:p>
            <a:pPr indent="0" marL="0">
              <a:buNone/>
            </a:pPr>
            <a:r>
              <a:rPr lang="en-US" sz="2300" dirty="0">
                <a:solidFill>
                  <a:srgbClr val="A8CAEE"/>
                </a:solidFill>
                <a:latin typeface="Calibri" pitchFamily="34" charset="0"/>
                <a:ea typeface="Calibri" pitchFamily="34" charset="-122"/>
                <a:cs typeface="Calibri" pitchFamily="34" charset="-120"/>
              </a:rPr>
              <a:t>Projects beyond your day-to-day work.</a:t>
            </a:r>
            <a:endParaRPr lang="en-US" sz="2300" dirty="0"/>
          </a:p>
        </p:txBody>
      </p:sp>
      <p:sp>
        <p:nvSpPr>
          <p:cNvPr id="5" name="Text 3"/>
          <p:cNvSpPr txBox="1"/>
          <p:nvPr/>
        </p:nvSpPr>
        <p:spPr>
          <a:xfrm>
            <a:off x="594360" y="2395728"/>
            <a:ext cx="6858000" cy="1005840"/>
          </a:xfrm>
          <a:prstGeom prst="rect">
            <a:avLst/>
          </a:prstGeom>
          <a:noFill/>
          <a:ln/>
        </p:spPr>
        <p:txBody>
          <a:bodyPr wrap="square" lIns="0" tIns="0" rIns="0" bIns="0" rtlCol="0" anchor="ctr"/>
          <a:lstStyle/>
          <a:p>
            <a:pPr indent="0" marL="0">
              <a:lnSpc>
                <a:spcPct val="130000"/>
              </a:lnSpc>
              <a:buNone/>
            </a:pPr>
            <a:r>
              <a:rPr lang="en-US" sz="1450" dirty="0">
                <a:solidFill>
                  <a:srgbClr val="CCDAEB"/>
                </a:solidFill>
                <a:latin typeface="Calibri" pitchFamily="34" charset="0"/>
                <a:ea typeface="Calibri" pitchFamily="34" charset="-122"/>
                <a:cs typeface="Calibri" pitchFamily="34" charset="-120"/>
              </a:rPr>
              <a:t>One internal place where any team can post work it needs help with, and colleagues anywhere in the organisation can offer the bandwidth and skills they want to bring to it — routed through the right approvals, and open across departments and MB units rather than stopping at a team boundary.</a:t>
            </a:r>
            <a:endParaRPr lang="en-US" sz="1450" dirty="0"/>
          </a:p>
        </p:txBody>
      </p:sp>
      <p:sp>
        <p:nvSpPr>
          <p:cNvPr id="6" name="Shape 4"/>
          <p:cNvSpPr/>
          <p:nvPr/>
        </p:nvSpPr>
        <p:spPr>
          <a:xfrm>
            <a:off x="594360" y="3913632"/>
            <a:ext cx="3514344" cy="1572768"/>
          </a:xfrm>
          <a:prstGeom prst="roundRect">
            <a:avLst>
              <a:gd name="adj" fmla="val 5814"/>
            </a:avLst>
          </a:prstGeom>
          <a:solidFill>
            <a:srgbClr val="23323F"/>
          </a:solidFill>
          <a:ln w="12700">
            <a:solidFill>
              <a:srgbClr val="31414F"/>
            </a:solidFill>
            <a:prstDash val="solid"/>
          </a:ln>
        </p:spPr>
      </p:sp>
      <p:sp>
        <p:nvSpPr>
          <p:cNvPr id="7" name="Shape 5"/>
          <p:cNvSpPr/>
          <p:nvPr/>
        </p:nvSpPr>
        <p:spPr>
          <a:xfrm>
            <a:off x="850392" y="4206240"/>
            <a:ext cx="420624" cy="420624"/>
          </a:xfrm>
          <a:prstGeom prst="ellipse">
            <a:avLst/>
          </a:prstGeom>
          <a:solidFill>
            <a:srgbClr val="176DD0"/>
          </a:solidFill>
          <a:ln w="12700">
            <a:solidFill>
              <a:srgbClr val="176DD0"/>
            </a:solidFill>
            <a:prstDash val="solid"/>
          </a:ln>
        </p:spPr>
      </p:sp>
      <p:sp>
        <p:nvSpPr>
          <p:cNvPr id="8" name="Text 6"/>
          <p:cNvSpPr txBox="1"/>
          <p:nvPr/>
        </p:nvSpPr>
        <p:spPr>
          <a:xfrm>
            <a:off x="850392" y="4206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472184" y="4178808"/>
            <a:ext cx="2380488"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Ask beyond your team</a:t>
            </a:r>
            <a:endParaRPr lang="en-US" sz="1500" dirty="0"/>
          </a:p>
        </p:txBody>
      </p:sp>
      <p:sp>
        <p:nvSpPr>
          <p:cNvPr id="10" name="Text 8"/>
          <p:cNvSpPr txBox="1"/>
          <p:nvPr/>
        </p:nvSpPr>
        <p:spPr>
          <a:xfrm>
            <a:off x="1472184" y="4462272"/>
            <a:ext cx="2380488" cy="566928"/>
          </a:xfrm>
          <a:prstGeom prst="rect">
            <a:avLst/>
          </a:prstGeom>
          <a:noFill/>
          <a:ln/>
        </p:spPr>
        <p:txBody>
          <a:bodyPr wrap="square" lIns="0" tIns="0" rIns="0" bIns="0" rtlCol="0" anchor="ctr"/>
          <a:lstStyle/>
          <a:p>
            <a:pPr indent="0" marL="0">
              <a:lnSpc>
                <a:spcPct val="115000"/>
              </a:lnSpc>
              <a:buNone/>
            </a:pPr>
            <a:r>
              <a:rPr lang="en-US" sz="1200" dirty="0">
                <a:solidFill>
                  <a:srgbClr val="CCDAEB"/>
                </a:solidFill>
                <a:latin typeface="Calibri" pitchFamily="34" charset="0"/>
                <a:ea typeface="Calibri" pitchFamily="34" charset="-122"/>
                <a:cs typeface="Calibri" pitchFamily="34" charset="-120"/>
              </a:rPr>
              <a:t>Post what you need, with the skills and total effort it takes.</a:t>
            </a:r>
            <a:endParaRPr lang="en-US" sz="1200" dirty="0"/>
          </a:p>
        </p:txBody>
      </p:sp>
      <p:sp>
        <p:nvSpPr>
          <p:cNvPr id="11" name="Shape 9"/>
          <p:cNvSpPr/>
          <p:nvPr/>
        </p:nvSpPr>
        <p:spPr>
          <a:xfrm>
            <a:off x="4337304" y="3913632"/>
            <a:ext cx="3514344" cy="1572768"/>
          </a:xfrm>
          <a:prstGeom prst="roundRect">
            <a:avLst>
              <a:gd name="adj" fmla="val 5814"/>
            </a:avLst>
          </a:prstGeom>
          <a:solidFill>
            <a:srgbClr val="23323F"/>
          </a:solidFill>
          <a:ln w="12700">
            <a:solidFill>
              <a:srgbClr val="31414F"/>
            </a:solidFill>
            <a:prstDash val="solid"/>
          </a:ln>
        </p:spPr>
      </p:sp>
      <p:sp>
        <p:nvSpPr>
          <p:cNvPr id="12" name="Shape 10"/>
          <p:cNvSpPr/>
          <p:nvPr/>
        </p:nvSpPr>
        <p:spPr>
          <a:xfrm>
            <a:off x="4593336" y="4206240"/>
            <a:ext cx="420624" cy="420624"/>
          </a:xfrm>
          <a:prstGeom prst="ellipse">
            <a:avLst/>
          </a:prstGeom>
          <a:solidFill>
            <a:srgbClr val="107A9C"/>
          </a:solidFill>
          <a:ln w="12700">
            <a:solidFill>
              <a:srgbClr val="107A9C"/>
            </a:solidFill>
            <a:prstDash val="solid"/>
          </a:ln>
        </p:spPr>
      </p:sp>
      <p:sp>
        <p:nvSpPr>
          <p:cNvPr id="13" name="Text 11"/>
          <p:cNvSpPr txBox="1"/>
          <p:nvPr/>
        </p:nvSpPr>
        <p:spPr>
          <a:xfrm>
            <a:off x="4593336" y="4206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215128" y="4178808"/>
            <a:ext cx="2380488"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Match on offered bandwidth</a:t>
            </a:r>
            <a:endParaRPr lang="en-US" sz="1500" dirty="0"/>
          </a:p>
        </p:txBody>
      </p:sp>
      <p:sp>
        <p:nvSpPr>
          <p:cNvPr id="15" name="Text 13"/>
          <p:cNvSpPr txBox="1"/>
          <p:nvPr/>
        </p:nvSpPr>
        <p:spPr>
          <a:xfrm>
            <a:off x="5215128" y="4462272"/>
            <a:ext cx="2380488" cy="566928"/>
          </a:xfrm>
          <a:prstGeom prst="rect">
            <a:avLst/>
          </a:prstGeom>
          <a:noFill/>
          <a:ln/>
        </p:spPr>
        <p:txBody>
          <a:bodyPr wrap="square" lIns="0" tIns="0" rIns="0" bIns="0" rtlCol="0" anchor="ctr"/>
          <a:lstStyle/>
          <a:p>
            <a:pPr indent="0" marL="0">
              <a:lnSpc>
                <a:spcPct val="115000"/>
              </a:lnSpc>
              <a:buNone/>
            </a:pPr>
            <a:r>
              <a:rPr lang="en-US" sz="1200" dirty="0">
                <a:solidFill>
                  <a:srgbClr val="CCDAEB"/>
                </a:solidFill>
                <a:latin typeface="Calibri" pitchFamily="34" charset="0"/>
                <a:ea typeface="Calibri" pitchFamily="34" charset="-122"/>
                <a:cs typeface="Calibri" pitchFamily="34" charset="-120"/>
              </a:rPr>
              <a:t>Fit is scored on declared skills and the hours people choose to offer.</a:t>
            </a:r>
            <a:endParaRPr lang="en-US" sz="1200" dirty="0"/>
          </a:p>
        </p:txBody>
      </p:sp>
      <p:sp>
        <p:nvSpPr>
          <p:cNvPr id="16" name="Shape 14"/>
          <p:cNvSpPr/>
          <p:nvPr/>
        </p:nvSpPr>
        <p:spPr>
          <a:xfrm>
            <a:off x="8080248" y="3913632"/>
            <a:ext cx="3514344" cy="1572768"/>
          </a:xfrm>
          <a:prstGeom prst="roundRect">
            <a:avLst>
              <a:gd name="adj" fmla="val 5814"/>
            </a:avLst>
          </a:prstGeom>
          <a:solidFill>
            <a:srgbClr val="23323F"/>
          </a:solidFill>
          <a:ln w="12700">
            <a:solidFill>
              <a:srgbClr val="31414F"/>
            </a:solidFill>
            <a:prstDash val="solid"/>
          </a:ln>
        </p:spPr>
      </p:sp>
      <p:sp>
        <p:nvSpPr>
          <p:cNvPr id="17" name="Shape 15"/>
          <p:cNvSpPr/>
          <p:nvPr/>
        </p:nvSpPr>
        <p:spPr>
          <a:xfrm>
            <a:off x="8336280" y="4206240"/>
            <a:ext cx="420624" cy="420624"/>
          </a:xfrm>
          <a:prstGeom prst="ellipse">
            <a:avLst/>
          </a:prstGeom>
          <a:solidFill>
            <a:srgbClr val="9A650D"/>
          </a:solidFill>
          <a:ln w="12700">
            <a:solidFill>
              <a:srgbClr val="9A650D"/>
            </a:solidFill>
            <a:prstDash val="solid"/>
          </a:ln>
        </p:spPr>
      </p:sp>
      <p:sp>
        <p:nvSpPr>
          <p:cNvPr id="18" name="Text 16"/>
          <p:cNvSpPr txBox="1"/>
          <p:nvPr/>
        </p:nvSpPr>
        <p:spPr>
          <a:xfrm>
            <a:off x="8336280" y="420624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958072" y="4178808"/>
            <a:ext cx="2380488"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Learn where demand is</a:t>
            </a:r>
            <a:endParaRPr lang="en-US" sz="1500" dirty="0"/>
          </a:p>
        </p:txBody>
      </p:sp>
      <p:sp>
        <p:nvSpPr>
          <p:cNvPr id="20" name="Text 18"/>
          <p:cNvSpPr txBox="1"/>
          <p:nvPr/>
        </p:nvSpPr>
        <p:spPr>
          <a:xfrm>
            <a:off x="8958072" y="4462272"/>
            <a:ext cx="2380488" cy="566928"/>
          </a:xfrm>
          <a:prstGeom prst="rect">
            <a:avLst/>
          </a:prstGeom>
          <a:noFill/>
          <a:ln/>
        </p:spPr>
        <p:txBody>
          <a:bodyPr wrap="square" lIns="0" tIns="0" rIns="0" bIns="0" rtlCol="0" anchor="ctr"/>
          <a:lstStyle/>
          <a:p>
            <a:pPr indent="0" marL="0">
              <a:lnSpc>
                <a:spcPct val="115000"/>
              </a:lnSpc>
              <a:buNone/>
            </a:pPr>
            <a:r>
              <a:rPr lang="en-US" sz="1200" dirty="0">
                <a:solidFill>
                  <a:srgbClr val="CCDAEB"/>
                </a:solidFill>
                <a:latin typeface="Calibri" pitchFamily="34" charset="0"/>
                <a:ea typeface="Calibri" pitchFamily="34" charset="-122"/>
                <a:cs typeface="Calibri" pitchFamily="34" charset="-120"/>
              </a:rPr>
              <a:t>Skill gaps surface from real requests, with sessions to close them.</a:t>
            </a:r>
            <a:endParaRPr lang="en-US" sz="1200" dirty="0"/>
          </a:p>
        </p:txBody>
      </p:sp>
      <p:sp>
        <p:nvSpPr>
          <p:cNvPr id="21" name="Text 19"/>
          <p:cNvSpPr txBox="1"/>
          <p:nvPr/>
        </p:nvSpPr>
        <p:spPr>
          <a:xfrm>
            <a:off x="594360" y="5943600"/>
            <a:ext cx="5486400" cy="274320"/>
          </a:xfrm>
          <a:prstGeom prst="rect">
            <a:avLst/>
          </a:prstGeom>
          <a:noFill/>
          <a:ln/>
        </p:spPr>
        <p:txBody>
          <a:bodyPr wrap="square" lIns="0" tIns="0" rIns="0" bIns="0" rtlCol="0" anchor="ctr"/>
          <a:lstStyle/>
          <a:p>
            <a:pPr indent="0" marL="0">
              <a:buNone/>
            </a:pPr>
            <a:r>
              <a:rPr lang="en-US" sz="1150" spc="80" kern="0" dirty="0">
                <a:solidFill>
                  <a:srgbClr val="76899F"/>
                </a:solidFill>
                <a:latin typeface="Calibri" pitchFamily="34" charset="0"/>
                <a:ea typeface="Calibri" pitchFamily="34" charset="-122"/>
                <a:cs typeface="Calibri" pitchFamily="34" charset="-120"/>
              </a:rPr>
              <a:t>Connect  ·  Collaborate  ·  Contribute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B"/>
        </a:solidFill>
      </p:bgPr>
    </p:bg>
    <p:spTree>
      <p:nvGrpSpPr>
        <p:cNvPr id="1" name=""/>
        <p:cNvGrpSpPr/>
        <p:nvPr/>
      </p:nvGrpSpPr>
      <p:grpSpPr>
        <a:xfrm>
          <a:off x="0" y="0"/>
          <a:ext cx="0" cy="0"/>
          <a:chOff x="0" y="0"/>
          <a:chExt cx="0" cy="0"/>
        </a:xfrm>
      </p:grpSpPr>
      <p:sp>
        <p:nvSpPr>
          <p:cNvPr id="2" name="Text 0"/>
          <p:cNvSpPr txBox="1"/>
          <p:nvPr/>
        </p:nvSpPr>
        <p:spPr>
          <a:xfrm>
            <a:off x="594360" y="548640"/>
            <a:ext cx="10058400" cy="566928"/>
          </a:xfrm>
          <a:prstGeom prst="rect">
            <a:avLst/>
          </a:prstGeom>
          <a:noFill/>
          <a:ln/>
        </p:spPr>
        <p:txBody>
          <a:bodyPr wrap="square" lIns="0" tIns="0" rIns="0" bIns="0" rtlCol="0" anchor="ctr"/>
          <a:lstStyle/>
          <a:p>
            <a:pPr indent="0" marL="0">
              <a:buNone/>
            </a:pPr>
            <a:r>
              <a:rPr lang="en-US" sz="3400" b="1" dirty="0">
                <a:solidFill>
                  <a:srgbClr val="1B2736"/>
                </a:solidFill>
                <a:latin typeface="Calibri" pitchFamily="34" charset="0"/>
                <a:ea typeface="Calibri" pitchFamily="34" charset="-122"/>
                <a:cs typeface="Calibri" pitchFamily="34" charset="-120"/>
              </a:rPr>
              <a:t>What this changes for the organisation</a:t>
            </a:r>
            <a:endParaRPr lang="en-US" sz="3400" dirty="0"/>
          </a:p>
        </p:txBody>
      </p:sp>
      <p:sp>
        <p:nvSpPr>
          <p:cNvPr id="3" name="Text 1"/>
          <p:cNvSpPr txBox="1"/>
          <p:nvPr/>
        </p:nvSpPr>
        <p:spPr>
          <a:xfrm>
            <a:off x="594360" y="1115568"/>
            <a:ext cx="10058400" cy="310896"/>
          </a:xfrm>
          <a:prstGeom prst="rect">
            <a:avLst/>
          </a:prstGeom>
          <a:noFill/>
          <a:ln/>
        </p:spPr>
        <p:txBody>
          <a:bodyPr wrap="square" lIns="0" tIns="0" rIns="0" bIns="0" rtlCol="0" anchor="ctr"/>
          <a:lstStyle/>
          <a:p>
            <a:pPr indent="0" marL="0">
              <a:buNone/>
            </a:pPr>
            <a:r>
              <a:rPr lang="en-US" sz="1450" dirty="0">
                <a:solidFill>
                  <a:srgbClr val="4D5A66"/>
                </a:solidFill>
                <a:latin typeface="Calibri" pitchFamily="34" charset="0"/>
                <a:ea typeface="Calibri" pitchFamily="34" charset="-122"/>
                <a:cs typeface="Calibri" pitchFamily="34" charset="-120"/>
              </a:rPr>
              <a:t>Four shifts, all of them measurable from day one.</a:t>
            </a:r>
            <a:endParaRPr lang="en-US" sz="1450" dirty="0"/>
          </a:p>
        </p:txBody>
      </p:sp>
      <p:sp>
        <p:nvSpPr>
          <p:cNvPr id="4" name="Shape 2"/>
          <p:cNvSpPr/>
          <p:nvPr/>
        </p:nvSpPr>
        <p:spPr>
          <a:xfrm>
            <a:off x="594360" y="1700784"/>
            <a:ext cx="5317236" cy="1783080"/>
          </a:xfrm>
          <a:prstGeom prst="roundRect">
            <a:avLst>
              <a:gd name="adj" fmla="val 4615"/>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5" name="Shape 3"/>
          <p:cNvSpPr/>
          <p:nvPr/>
        </p:nvSpPr>
        <p:spPr>
          <a:xfrm>
            <a:off x="905256" y="2011680"/>
            <a:ext cx="310896" cy="310896"/>
          </a:xfrm>
          <a:prstGeom prst="ellipse">
            <a:avLst/>
          </a:prstGeom>
          <a:solidFill>
            <a:srgbClr val="176DD0"/>
          </a:solidFill>
          <a:ln w="12700">
            <a:solidFill>
              <a:srgbClr val="176DD0"/>
            </a:solidFill>
            <a:prstDash val="solid"/>
          </a:ln>
        </p:spPr>
      </p:sp>
      <p:sp>
        <p:nvSpPr>
          <p:cNvPr id="6" name="Text 4"/>
          <p:cNvSpPr txBox="1"/>
          <p:nvPr/>
        </p:nvSpPr>
        <p:spPr>
          <a:xfrm>
            <a:off x="1380744" y="1975104"/>
            <a:ext cx="4219956" cy="38404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Willing bandwidth becomes findable</a:t>
            </a:r>
            <a:endParaRPr lang="en-US" sz="1700" dirty="0"/>
          </a:p>
        </p:txBody>
      </p:sp>
      <p:sp>
        <p:nvSpPr>
          <p:cNvPr id="7" name="Text 5"/>
          <p:cNvSpPr txBox="1"/>
          <p:nvPr/>
        </p:nvSpPr>
        <p:spPr>
          <a:xfrm>
            <a:off x="905256" y="2542032"/>
            <a:ext cx="4695444" cy="786384"/>
          </a:xfrm>
          <a:prstGeom prst="rect">
            <a:avLst/>
          </a:prstGeom>
          <a:noFill/>
          <a:ln/>
        </p:spPr>
        <p:txBody>
          <a:bodyPr wrap="square" lIns="0" tIns="0" rIns="0" bIns="0" rtlCol="0" anchor="ctr"/>
          <a:lstStyle/>
          <a:p>
            <a:pPr indent="0" marL="0">
              <a:lnSpc>
                <a:spcPct val="125000"/>
              </a:lnSpc>
              <a:buNone/>
            </a:pPr>
            <a:r>
              <a:rPr lang="en-US" sz="1300" dirty="0">
                <a:solidFill>
                  <a:srgbClr val="4D5A66"/>
                </a:solidFill>
                <a:latin typeface="Calibri" pitchFamily="34" charset="0"/>
                <a:ea typeface="Calibri" pitchFamily="34" charset="-122"/>
                <a:cs typeface="Calibri" pitchFamily="34" charset="-120"/>
              </a:rPr>
              <a:t>People say what they want to contribute and where. That offer is visible to any team that needs it, instead of being invisible outside their own.</a:t>
            </a:r>
            <a:endParaRPr lang="en-US" sz="1300" dirty="0"/>
          </a:p>
        </p:txBody>
      </p:sp>
      <p:sp>
        <p:nvSpPr>
          <p:cNvPr id="8" name="Shape 6"/>
          <p:cNvSpPr/>
          <p:nvPr/>
        </p:nvSpPr>
        <p:spPr>
          <a:xfrm>
            <a:off x="6277356" y="1700784"/>
            <a:ext cx="5317236" cy="1783080"/>
          </a:xfrm>
          <a:prstGeom prst="roundRect">
            <a:avLst>
              <a:gd name="adj" fmla="val 4615"/>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9" name="Shape 7"/>
          <p:cNvSpPr/>
          <p:nvPr/>
        </p:nvSpPr>
        <p:spPr>
          <a:xfrm>
            <a:off x="6588252" y="2011680"/>
            <a:ext cx="310896" cy="310896"/>
          </a:xfrm>
          <a:prstGeom prst="ellipse">
            <a:avLst/>
          </a:prstGeom>
          <a:solidFill>
            <a:srgbClr val="107A9C"/>
          </a:solidFill>
          <a:ln w="12700">
            <a:solidFill>
              <a:srgbClr val="107A9C"/>
            </a:solidFill>
            <a:prstDash val="solid"/>
          </a:ln>
        </p:spPr>
      </p:sp>
      <p:sp>
        <p:nvSpPr>
          <p:cNvPr id="10" name="Text 8"/>
          <p:cNvSpPr txBox="1"/>
          <p:nvPr/>
        </p:nvSpPr>
        <p:spPr>
          <a:xfrm>
            <a:off x="7063740" y="1975104"/>
            <a:ext cx="4219956" cy="38404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Collaboration reaches past the team boundary</a:t>
            </a:r>
            <a:endParaRPr lang="en-US" sz="1700" dirty="0"/>
          </a:p>
        </p:txBody>
      </p:sp>
      <p:sp>
        <p:nvSpPr>
          <p:cNvPr id="11" name="Text 9"/>
          <p:cNvSpPr txBox="1"/>
          <p:nvPr/>
        </p:nvSpPr>
        <p:spPr>
          <a:xfrm>
            <a:off x="6588252" y="2542032"/>
            <a:ext cx="4695444" cy="786384"/>
          </a:xfrm>
          <a:prstGeom prst="rect">
            <a:avLst/>
          </a:prstGeom>
          <a:noFill/>
          <a:ln/>
        </p:spPr>
        <p:txBody>
          <a:bodyPr wrap="square" lIns="0" tIns="0" rIns="0" bIns="0" rtlCol="0" anchor="ctr"/>
          <a:lstStyle/>
          <a:p>
            <a:pPr indent="0" marL="0">
              <a:lnSpc>
                <a:spcPct val="125000"/>
              </a:lnSpc>
              <a:buNone/>
            </a:pPr>
            <a:r>
              <a:rPr lang="en-US" sz="1300" dirty="0">
                <a:solidFill>
                  <a:srgbClr val="4D5A66"/>
                </a:solidFill>
                <a:latin typeface="Calibri" pitchFamily="34" charset="0"/>
                <a:ea typeface="Calibri" pitchFamily="34" charset="-122"/>
                <a:cs typeface="Calibri" pitchFamily="34" charset="-120"/>
              </a:rPr>
              <a:t>A request is open to every department and MB unit, so the right person is found on capability rather than on who happens to be nearby.</a:t>
            </a:r>
            <a:endParaRPr lang="en-US" sz="1300" dirty="0"/>
          </a:p>
        </p:txBody>
      </p:sp>
      <p:sp>
        <p:nvSpPr>
          <p:cNvPr id="12" name="Shape 10"/>
          <p:cNvSpPr/>
          <p:nvPr/>
        </p:nvSpPr>
        <p:spPr>
          <a:xfrm>
            <a:off x="594360" y="3794760"/>
            <a:ext cx="5317236" cy="1783080"/>
          </a:xfrm>
          <a:prstGeom prst="roundRect">
            <a:avLst>
              <a:gd name="adj" fmla="val 4615"/>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13" name="Shape 11"/>
          <p:cNvSpPr/>
          <p:nvPr/>
        </p:nvSpPr>
        <p:spPr>
          <a:xfrm>
            <a:off x="905256" y="4105656"/>
            <a:ext cx="310896" cy="310896"/>
          </a:xfrm>
          <a:prstGeom prst="ellipse">
            <a:avLst/>
          </a:prstGeom>
          <a:solidFill>
            <a:srgbClr val="128166"/>
          </a:solidFill>
          <a:ln w="12700">
            <a:solidFill>
              <a:srgbClr val="128166"/>
            </a:solidFill>
            <a:prstDash val="solid"/>
          </a:ln>
        </p:spPr>
      </p:sp>
      <p:sp>
        <p:nvSpPr>
          <p:cNvPr id="14" name="Text 12"/>
          <p:cNvSpPr txBox="1"/>
          <p:nvPr/>
        </p:nvSpPr>
        <p:spPr>
          <a:xfrm>
            <a:off x="1380744" y="4069080"/>
            <a:ext cx="4219956" cy="38404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Requests carry context, not guesswork</a:t>
            </a:r>
            <a:endParaRPr lang="en-US" sz="1700" dirty="0"/>
          </a:p>
        </p:txBody>
      </p:sp>
      <p:sp>
        <p:nvSpPr>
          <p:cNvPr id="15" name="Text 13"/>
          <p:cNvSpPr txBox="1"/>
          <p:nvPr/>
        </p:nvSpPr>
        <p:spPr>
          <a:xfrm>
            <a:off x="905256" y="4636008"/>
            <a:ext cx="4695444" cy="786384"/>
          </a:xfrm>
          <a:prstGeom prst="rect">
            <a:avLst/>
          </a:prstGeom>
          <a:noFill/>
          <a:ln/>
        </p:spPr>
        <p:txBody>
          <a:bodyPr wrap="square" lIns="0" tIns="0" rIns="0" bIns="0" rtlCol="0" anchor="ctr"/>
          <a:lstStyle/>
          <a:p>
            <a:pPr indent="0" marL="0">
              <a:lnSpc>
                <a:spcPct val="125000"/>
              </a:lnSpc>
              <a:buNone/>
            </a:pPr>
            <a:r>
              <a:rPr lang="en-US" sz="1300" dirty="0">
                <a:solidFill>
                  <a:srgbClr val="4D5A66"/>
                </a:solidFill>
                <a:latin typeface="Calibri" pitchFamily="34" charset="0"/>
                <a:ea typeface="Calibri" pitchFamily="34" charset="-122"/>
                <a:cs typeface="Calibri" pitchFamily="34" charset="-120"/>
              </a:rPr>
              <a:t>Effort, skills and the bandwidth someone offered are all on the request, so a manager decides with the facts in front of them.</a:t>
            </a:r>
            <a:endParaRPr lang="en-US" sz="1300" dirty="0"/>
          </a:p>
        </p:txBody>
      </p:sp>
      <p:sp>
        <p:nvSpPr>
          <p:cNvPr id="16" name="Shape 14"/>
          <p:cNvSpPr/>
          <p:nvPr/>
        </p:nvSpPr>
        <p:spPr>
          <a:xfrm>
            <a:off x="6277356" y="3794760"/>
            <a:ext cx="5317236" cy="1783080"/>
          </a:xfrm>
          <a:prstGeom prst="roundRect">
            <a:avLst>
              <a:gd name="adj" fmla="val 4615"/>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17" name="Shape 15"/>
          <p:cNvSpPr/>
          <p:nvPr/>
        </p:nvSpPr>
        <p:spPr>
          <a:xfrm>
            <a:off x="6588252" y="4105656"/>
            <a:ext cx="310896" cy="310896"/>
          </a:xfrm>
          <a:prstGeom prst="ellipse">
            <a:avLst/>
          </a:prstGeom>
          <a:solidFill>
            <a:srgbClr val="6758C8"/>
          </a:solidFill>
          <a:ln w="12700">
            <a:solidFill>
              <a:srgbClr val="6758C8"/>
            </a:solidFill>
            <a:prstDash val="solid"/>
          </a:ln>
        </p:spPr>
      </p:sp>
      <p:sp>
        <p:nvSpPr>
          <p:cNvPr id="18" name="Text 16"/>
          <p:cNvSpPr txBox="1"/>
          <p:nvPr/>
        </p:nvSpPr>
        <p:spPr>
          <a:xfrm>
            <a:off x="7063740" y="4069080"/>
            <a:ext cx="4219956" cy="38404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Upskilling follows genuine demand</a:t>
            </a:r>
            <a:endParaRPr lang="en-US" sz="1700" dirty="0"/>
          </a:p>
        </p:txBody>
      </p:sp>
      <p:sp>
        <p:nvSpPr>
          <p:cNvPr id="19" name="Text 17"/>
          <p:cNvSpPr txBox="1"/>
          <p:nvPr/>
        </p:nvSpPr>
        <p:spPr>
          <a:xfrm>
            <a:off x="6588252" y="4636008"/>
            <a:ext cx="4695444" cy="786384"/>
          </a:xfrm>
          <a:prstGeom prst="rect">
            <a:avLst/>
          </a:prstGeom>
          <a:noFill/>
          <a:ln/>
        </p:spPr>
        <p:txBody>
          <a:bodyPr wrap="square" lIns="0" tIns="0" rIns="0" bIns="0" rtlCol="0" anchor="ctr"/>
          <a:lstStyle/>
          <a:p>
            <a:pPr indent="0" marL="0">
              <a:lnSpc>
                <a:spcPct val="125000"/>
              </a:lnSpc>
              <a:buNone/>
            </a:pPr>
            <a:r>
              <a:rPr lang="en-US" sz="1300" dirty="0">
                <a:solidFill>
                  <a:srgbClr val="4D5A66"/>
                </a:solidFill>
                <a:latin typeface="Calibri" pitchFamily="34" charset="0"/>
                <a:ea typeface="Calibri" pitchFamily="34" charset="-122"/>
                <a:cs typeface="Calibri" pitchFamily="34" charset="-120"/>
              </a:rPr>
              <a:t>Scarce skills surface from real requests across the organisation, and colleague-run sessions close the gap where it actually exists.</a:t>
            </a:r>
            <a:endParaRPr lang="en-US" sz="1300" dirty="0"/>
          </a:p>
        </p:txBody>
      </p:sp>
      <p:sp>
        <p:nvSpPr>
          <p:cNvPr id="20" name="Text 18"/>
          <p:cNvSpPr txBox="1"/>
          <p:nvPr/>
        </p:nvSpPr>
        <p:spPr>
          <a:xfrm>
            <a:off x="594360" y="5870448"/>
            <a:ext cx="10424160" cy="329184"/>
          </a:xfrm>
          <a:prstGeom prst="rect">
            <a:avLst/>
          </a:prstGeom>
          <a:noFill/>
          <a:ln/>
        </p:spPr>
        <p:txBody>
          <a:bodyPr wrap="square" lIns="0" tIns="0" rIns="0" bIns="0" rtlCol="0" anchor="ctr"/>
          <a:lstStyle/>
          <a:p>
            <a:pPr indent="0" marL="0">
              <a:buNone/>
            </a:pPr>
            <a:r>
              <a:rPr lang="en-US" sz="1300" i="1" dirty="0">
                <a:solidFill>
                  <a:srgbClr val="626D7A"/>
                </a:solidFill>
                <a:latin typeface="Calibri" pitchFamily="34" charset="0"/>
                <a:ea typeface="Calibri" pitchFamily="34" charset="-122"/>
                <a:cs typeface="Calibri" pitchFamily="34" charset="-120"/>
              </a:rPr>
              <a:t>The common thread: knowledge and effort move to where they are needed, across the organisation rather than within one corner of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B"/>
        </a:solidFill>
      </p:bgPr>
    </p:bg>
    <p:spTree>
      <p:nvGrpSpPr>
        <p:cNvPr id="1" name=""/>
        <p:cNvGrpSpPr/>
        <p:nvPr/>
      </p:nvGrpSpPr>
      <p:grpSpPr>
        <a:xfrm>
          <a:off x="0" y="0"/>
          <a:ext cx="0" cy="0"/>
          <a:chOff x="0" y="0"/>
          <a:chExt cx="0" cy="0"/>
        </a:xfrm>
      </p:grpSpPr>
      <p:sp>
        <p:nvSpPr>
          <p:cNvPr id="2" name="Text 0"/>
          <p:cNvSpPr txBox="1"/>
          <p:nvPr/>
        </p:nvSpPr>
        <p:spPr>
          <a:xfrm>
            <a:off x="594360" y="548640"/>
            <a:ext cx="10058400" cy="566928"/>
          </a:xfrm>
          <a:prstGeom prst="rect">
            <a:avLst/>
          </a:prstGeom>
          <a:noFill/>
          <a:ln/>
        </p:spPr>
        <p:txBody>
          <a:bodyPr wrap="square" lIns="0" tIns="0" rIns="0" bIns="0" rtlCol="0" anchor="ctr"/>
          <a:lstStyle/>
          <a:p>
            <a:pPr indent="0" marL="0">
              <a:buNone/>
            </a:pPr>
            <a:r>
              <a:rPr lang="en-US" sz="3400" b="1" dirty="0">
                <a:solidFill>
                  <a:srgbClr val="1B2736"/>
                </a:solidFill>
                <a:latin typeface="Calibri" pitchFamily="34" charset="0"/>
                <a:ea typeface="Calibri" pitchFamily="34" charset="-122"/>
                <a:cs typeface="Calibri" pitchFamily="34" charset="-120"/>
              </a:rPr>
              <a:t>How it works, and what is inside</a:t>
            </a:r>
            <a:endParaRPr lang="en-US" sz="3400" dirty="0"/>
          </a:p>
        </p:txBody>
      </p:sp>
      <p:sp>
        <p:nvSpPr>
          <p:cNvPr id="3" name="Text 1"/>
          <p:cNvSpPr txBox="1"/>
          <p:nvPr/>
        </p:nvSpPr>
        <p:spPr>
          <a:xfrm>
            <a:off x="594360" y="1115568"/>
            <a:ext cx="10058400" cy="310896"/>
          </a:xfrm>
          <a:prstGeom prst="rect">
            <a:avLst/>
          </a:prstGeom>
          <a:noFill/>
          <a:ln/>
        </p:spPr>
        <p:txBody>
          <a:bodyPr wrap="square" lIns="0" tIns="0" rIns="0" bIns="0" rtlCol="0" anchor="ctr"/>
          <a:lstStyle/>
          <a:p>
            <a:pPr indent="0" marL="0">
              <a:buNone/>
            </a:pPr>
            <a:r>
              <a:rPr lang="en-US" sz="1450" dirty="0">
                <a:solidFill>
                  <a:srgbClr val="4D5A66"/>
                </a:solidFill>
                <a:latin typeface="Calibri" pitchFamily="34" charset="0"/>
                <a:ea typeface="Calibri" pitchFamily="34" charset="-122"/>
                <a:cs typeface="Calibri" pitchFamily="34" charset="-120"/>
              </a:rPr>
              <a:t>A request moves left to right; the platform carries it the whole way.</a:t>
            </a:r>
            <a:endParaRPr lang="en-US" sz="1450" dirty="0"/>
          </a:p>
        </p:txBody>
      </p:sp>
      <p:sp>
        <p:nvSpPr>
          <p:cNvPr id="4" name="Shape 2"/>
          <p:cNvSpPr/>
          <p:nvPr/>
        </p:nvSpPr>
        <p:spPr>
          <a:xfrm>
            <a:off x="594360" y="1627632"/>
            <a:ext cx="2599182" cy="1024128"/>
          </a:xfrm>
          <a:prstGeom prst="roundRect">
            <a:avLst>
              <a:gd name="adj" fmla="val 8036"/>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5" name="Text 3"/>
          <p:cNvSpPr txBox="1"/>
          <p:nvPr/>
        </p:nvSpPr>
        <p:spPr>
          <a:xfrm>
            <a:off x="832104" y="1792224"/>
            <a:ext cx="274320" cy="274320"/>
          </a:xfrm>
          <a:prstGeom prst="rect">
            <a:avLst/>
          </a:prstGeom>
          <a:noFill/>
          <a:ln/>
        </p:spPr>
        <p:txBody>
          <a:bodyPr wrap="square" lIns="0" tIns="0" rIns="0" bIns="0" rtlCol="0" anchor="ctr"/>
          <a:lstStyle/>
          <a:p>
            <a:pPr algn="l" indent="0" marL="0">
              <a:buNone/>
            </a:pPr>
            <a:r>
              <a:rPr lang="en-US" sz="1200" b="1" dirty="0">
                <a:solidFill>
                  <a:srgbClr val="176DD0"/>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832104" y="1975104"/>
            <a:ext cx="2123694" cy="29260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Post</a:t>
            </a:r>
            <a:endParaRPr lang="en-US" sz="1700" dirty="0"/>
          </a:p>
        </p:txBody>
      </p:sp>
      <p:sp>
        <p:nvSpPr>
          <p:cNvPr id="7" name="Text 5"/>
          <p:cNvSpPr txBox="1"/>
          <p:nvPr/>
        </p:nvSpPr>
        <p:spPr>
          <a:xfrm>
            <a:off x="832104" y="2267712"/>
            <a:ext cx="2123694" cy="274320"/>
          </a:xfrm>
          <a:prstGeom prst="rect">
            <a:avLst/>
          </a:prstGeom>
          <a:noFill/>
          <a:ln/>
        </p:spPr>
        <p:txBody>
          <a:bodyPr wrap="square" lIns="0" tIns="0" rIns="0" bIns="0" rtlCol="0" anchor="ctr"/>
          <a:lstStyle/>
          <a:p>
            <a:pPr indent="0" marL="0">
              <a:buNone/>
            </a:pPr>
            <a:r>
              <a:rPr lang="en-US" sz="1150" dirty="0">
                <a:solidFill>
                  <a:srgbClr val="626D7A"/>
                </a:solidFill>
                <a:latin typeface="Calibri" pitchFamily="34" charset="0"/>
                <a:ea typeface="Calibri" pitchFamily="34" charset="-122"/>
                <a:cs typeface="Calibri" pitchFamily="34" charset="-120"/>
              </a:rPr>
              <a:t>Total effort, skills, seats</a:t>
            </a:r>
            <a:endParaRPr lang="en-US" sz="1150" dirty="0"/>
          </a:p>
        </p:txBody>
      </p:sp>
      <p:sp>
        <p:nvSpPr>
          <p:cNvPr id="8" name="Shape 6"/>
          <p:cNvSpPr/>
          <p:nvPr/>
        </p:nvSpPr>
        <p:spPr>
          <a:xfrm>
            <a:off x="3234690" y="2066544"/>
            <a:ext cx="118872" cy="128016"/>
          </a:xfrm>
          <a:prstGeom prst="rightArrow">
            <a:avLst/>
          </a:prstGeom>
          <a:solidFill>
            <a:srgbClr val="AEB8C5"/>
          </a:solidFill>
          <a:ln w="12700">
            <a:solidFill>
              <a:srgbClr val="AEB8C5"/>
            </a:solidFill>
            <a:prstDash val="solid"/>
          </a:ln>
        </p:spPr>
      </p:sp>
      <p:sp>
        <p:nvSpPr>
          <p:cNvPr id="9" name="Shape 7"/>
          <p:cNvSpPr/>
          <p:nvPr/>
        </p:nvSpPr>
        <p:spPr>
          <a:xfrm>
            <a:off x="3394710" y="1627632"/>
            <a:ext cx="2599182" cy="1024128"/>
          </a:xfrm>
          <a:prstGeom prst="roundRect">
            <a:avLst>
              <a:gd name="adj" fmla="val 8036"/>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10" name="Text 8"/>
          <p:cNvSpPr txBox="1"/>
          <p:nvPr/>
        </p:nvSpPr>
        <p:spPr>
          <a:xfrm>
            <a:off x="3632454" y="1792224"/>
            <a:ext cx="274320" cy="274320"/>
          </a:xfrm>
          <a:prstGeom prst="rect">
            <a:avLst/>
          </a:prstGeom>
          <a:noFill/>
          <a:ln/>
        </p:spPr>
        <p:txBody>
          <a:bodyPr wrap="square" lIns="0" tIns="0" rIns="0" bIns="0" rtlCol="0" anchor="ctr"/>
          <a:lstStyle/>
          <a:p>
            <a:pPr algn="l" indent="0" marL="0">
              <a:buNone/>
            </a:pPr>
            <a:r>
              <a:rPr lang="en-US" sz="1200" b="1" dirty="0">
                <a:solidFill>
                  <a:srgbClr val="176DD0"/>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3632454" y="1975104"/>
            <a:ext cx="2123694" cy="29260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Apply</a:t>
            </a:r>
            <a:endParaRPr lang="en-US" sz="1700" dirty="0"/>
          </a:p>
        </p:txBody>
      </p:sp>
      <p:sp>
        <p:nvSpPr>
          <p:cNvPr id="12" name="Text 10"/>
          <p:cNvSpPr txBox="1"/>
          <p:nvPr/>
        </p:nvSpPr>
        <p:spPr>
          <a:xfrm>
            <a:off x="3632454" y="2267712"/>
            <a:ext cx="2123694" cy="274320"/>
          </a:xfrm>
          <a:prstGeom prst="rect">
            <a:avLst/>
          </a:prstGeom>
          <a:noFill/>
          <a:ln/>
        </p:spPr>
        <p:txBody>
          <a:bodyPr wrap="square" lIns="0" tIns="0" rIns="0" bIns="0" rtlCol="0" anchor="ctr"/>
          <a:lstStyle/>
          <a:p>
            <a:pPr indent="0" marL="0">
              <a:buNone/>
            </a:pPr>
            <a:r>
              <a:rPr lang="en-US" sz="1150" dirty="0">
                <a:solidFill>
                  <a:srgbClr val="626D7A"/>
                </a:solidFill>
                <a:latin typeface="Calibri" pitchFamily="34" charset="0"/>
                <a:ea typeface="Calibri" pitchFamily="34" charset="-122"/>
                <a:cs typeface="Calibri" pitchFamily="34" charset="-120"/>
              </a:rPr>
              <a:t>Fit scored on offered bandwidth</a:t>
            </a:r>
            <a:endParaRPr lang="en-US" sz="1150" dirty="0"/>
          </a:p>
        </p:txBody>
      </p:sp>
      <p:sp>
        <p:nvSpPr>
          <p:cNvPr id="13" name="Shape 11"/>
          <p:cNvSpPr/>
          <p:nvPr/>
        </p:nvSpPr>
        <p:spPr>
          <a:xfrm>
            <a:off x="6035040" y="2066544"/>
            <a:ext cx="118872" cy="128016"/>
          </a:xfrm>
          <a:prstGeom prst="rightArrow">
            <a:avLst/>
          </a:prstGeom>
          <a:solidFill>
            <a:srgbClr val="AEB8C5"/>
          </a:solidFill>
          <a:ln w="12700">
            <a:solidFill>
              <a:srgbClr val="AEB8C5"/>
            </a:solidFill>
            <a:prstDash val="solid"/>
          </a:ln>
        </p:spPr>
      </p:sp>
      <p:sp>
        <p:nvSpPr>
          <p:cNvPr id="14" name="Shape 12"/>
          <p:cNvSpPr/>
          <p:nvPr/>
        </p:nvSpPr>
        <p:spPr>
          <a:xfrm>
            <a:off x="6195060" y="1627632"/>
            <a:ext cx="2599182" cy="1024128"/>
          </a:xfrm>
          <a:prstGeom prst="roundRect">
            <a:avLst>
              <a:gd name="adj" fmla="val 8036"/>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15" name="Text 13"/>
          <p:cNvSpPr txBox="1"/>
          <p:nvPr/>
        </p:nvSpPr>
        <p:spPr>
          <a:xfrm>
            <a:off x="6432804" y="1792224"/>
            <a:ext cx="274320" cy="274320"/>
          </a:xfrm>
          <a:prstGeom prst="rect">
            <a:avLst/>
          </a:prstGeom>
          <a:noFill/>
          <a:ln/>
        </p:spPr>
        <p:txBody>
          <a:bodyPr wrap="square" lIns="0" tIns="0" rIns="0" bIns="0" rtlCol="0" anchor="ctr"/>
          <a:lstStyle/>
          <a:p>
            <a:pPr algn="l" indent="0" marL="0">
              <a:buNone/>
            </a:pPr>
            <a:r>
              <a:rPr lang="en-US" sz="1200" b="1" dirty="0">
                <a:solidFill>
                  <a:srgbClr val="176DD0"/>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6432804" y="1975104"/>
            <a:ext cx="2123694" cy="29260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Approve</a:t>
            </a:r>
            <a:endParaRPr lang="en-US" sz="1700" dirty="0"/>
          </a:p>
        </p:txBody>
      </p:sp>
      <p:sp>
        <p:nvSpPr>
          <p:cNvPr id="17" name="Text 15"/>
          <p:cNvSpPr txBox="1"/>
          <p:nvPr/>
        </p:nvSpPr>
        <p:spPr>
          <a:xfrm>
            <a:off x="6432804" y="2267712"/>
            <a:ext cx="2123694" cy="274320"/>
          </a:xfrm>
          <a:prstGeom prst="rect">
            <a:avLst/>
          </a:prstGeom>
          <a:noFill/>
          <a:ln/>
        </p:spPr>
        <p:txBody>
          <a:bodyPr wrap="square" lIns="0" tIns="0" rIns="0" bIns="0" rtlCol="0" anchor="ctr"/>
          <a:lstStyle/>
          <a:p>
            <a:pPr indent="0" marL="0">
              <a:buNone/>
            </a:pPr>
            <a:r>
              <a:rPr lang="en-US" sz="1150" dirty="0">
                <a:solidFill>
                  <a:srgbClr val="626D7A"/>
                </a:solidFill>
                <a:latin typeface="Calibri" pitchFamily="34" charset="0"/>
                <a:ea typeface="Calibri" pitchFamily="34" charset="-122"/>
                <a:cs typeface="Calibri" pitchFamily="34" charset="-120"/>
              </a:rPr>
              <a:t>Author, then manager</a:t>
            </a:r>
            <a:endParaRPr lang="en-US" sz="1150" dirty="0"/>
          </a:p>
        </p:txBody>
      </p:sp>
      <p:sp>
        <p:nvSpPr>
          <p:cNvPr id="18" name="Shape 16"/>
          <p:cNvSpPr/>
          <p:nvPr/>
        </p:nvSpPr>
        <p:spPr>
          <a:xfrm>
            <a:off x="8835390" y="2066544"/>
            <a:ext cx="118872" cy="128016"/>
          </a:xfrm>
          <a:prstGeom prst="rightArrow">
            <a:avLst/>
          </a:prstGeom>
          <a:solidFill>
            <a:srgbClr val="AEB8C5"/>
          </a:solidFill>
          <a:ln w="12700">
            <a:solidFill>
              <a:srgbClr val="AEB8C5"/>
            </a:solidFill>
            <a:prstDash val="solid"/>
          </a:ln>
        </p:spPr>
      </p:sp>
      <p:sp>
        <p:nvSpPr>
          <p:cNvPr id="19" name="Shape 17"/>
          <p:cNvSpPr/>
          <p:nvPr/>
        </p:nvSpPr>
        <p:spPr>
          <a:xfrm>
            <a:off x="8995410" y="1627632"/>
            <a:ext cx="2599182" cy="1024128"/>
          </a:xfrm>
          <a:prstGeom prst="roundRect">
            <a:avLst>
              <a:gd name="adj" fmla="val 8036"/>
            </a:avLst>
          </a:prstGeom>
          <a:solidFill>
            <a:srgbClr val="E7EFFA"/>
          </a:solidFill>
          <a:ln w="12700">
            <a:solidFill>
              <a:srgbClr val="176DD0"/>
            </a:solidFill>
            <a:prstDash val="solid"/>
          </a:ln>
          <a:effectLst>
            <a:outerShdw sx="100000" sy="100000" kx="0" ky="0" algn="bl" rotWithShape="0" blurRad="127000" dist="25400" dir="5400000">
              <a:srgbClr val="16202C">
                <a:alpha val="10000"/>
              </a:srgbClr>
            </a:outerShdw>
          </a:effectLst>
        </p:spPr>
      </p:sp>
      <p:sp>
        <p:nvSpPr>
          <p:cNvPr id="20" name="Text 18"/>
          <p:cNvSpPr txBox="1"/>
          <p:nvPr/>
        </p:nvSpPr>
        <p:spPr>
          <a:xfrm>
            <a:off x="9233154" y="1792224"/>
            <a:ext cx="274320" cy="274320"/>
          </a:xfrm>
          <a:prstGeom prst="rect">
            <a:avLst/>
          </a:prstGeom>
          <a:noFill/>
          <a:ln/>
        </p:spPr>
        <p:txBody>
          <a:bodyPr wrap="square" lIns="0" tIns="0" rIns="0" bIns="0" rtlCol="0" anchor="ctr"/>
          <a:lstStyle/>
          <a:p>
            <a:pPr algn="l" indent="0" marL="0">
              <a:buNone/>
            </a:pPr>
            <a:r>
              <a:rPr lang="en-US" sz="1200" b="1" dirty="0">
                <a:solidFill>
                  <a:srgbClr val="176DD0"/>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9233154" y="1975104"/>
            <a:ext cx="2123694" cy="292608"/>
          </a:xfrm>
          <a:prstGeom prst="rect">
            <a:avLst/>
          </a:prstGeom>
          <a:noFill/>
          <a:ln/>
        </p:spPr>
        <p:txBody>
          <a:bodyPr wrap="square" lIns="0" tIns="0" rIns="0" bIns="0" rtlCol="0" anchor="ctr"/>
          <a:lstStyle/>
          <a:p>
            <a:pPr indent="0" marL="0">
              <a:buNone/>
            </a:pPr>
            <a:r>
              <a:rPr lang="en-US" sz="1700" b="1" dirty="0">
                <a:solidFill>
                  <a:srgbClr val="1B2736"/>
                </a:solidFill>
                <a:latin typeface="Calibri" pitchFamily="34" charset="0"/>
                <a:ea typeface="Calibri" pitchFamily="34" charset="-122"/>
                <a:cs typeface="Calibri" pitchFamily="34" charset="-120"/>
              </a:rPr>
              <a:t>Recognise</a:t>
            </a:r>
            <a:endParaRPr lang="en-US" sz="1700" dirty="0"/>
          </a:p>
        </p:txBody>
      </p:sp>
      <p:sp>
        <p:nvSpPr>
          <p:cNvPr id="22" name="Text 20"/>
          <p:cNvSpPr txBox="1"/>
          <p:nvPr/>
        </p:nvSpPr>
        <p:spPr>
          <a:xfrm>
            <a:off x="9233154" y="2267712"/>
            <a:ext cx="2123694" cy="274320"/>
          </a:xfrm>
          <a:prstGeom prst="rect">
            <a:avLst/>
          </a:prstGeom>
          <a:noFill/>
          <a:ln/>
        </p:spPr>
        <p:txBody>
          <a:bodyPr wrap="square" lIns="0" tIns="0" rIns="0" bIns="0" rtlCol="0" anchor="ctr"/>
          <a:lstStyle/>
          <a:p>
            <a:pPr indent="0" marL="0">
              <a:buNone/>
            </a:pPr>
            <a:r>
              <a:rPr lang="en-US" sz="1150" dirty="0">
                <a:solidFill>
                  <a:srgbClr val="626D7A"/>
                </a:solidFill>
                <a:latin typeface="Calibri" pitchFamily="34" charset="0"/>
                <a:ea typeface="Calibri" pitchFamily="34" charset="-122"/>
                <a:cs typeface="Calibri" pitchFamily="34" charset="-120"/>
              </a:rPr>
              <a:t>Optional badge from the team</a:t>
            </a:r>
            <a:endParaRPr lang="en-US" sz="1150" dirty="0"/>
          </a:p>
        </p:txBody>
      </p:sp>
      <p:sp>
        <p:nvSpPr>
          <p:cNvPr id="23" name="Text 21"/>
          <p:cNvSpPr txBox="1"/>
          <p:nvPr/>
        </p:nvSpPr>
        <p:spPr>
          <a:xfrm>
            <a:off x="594360" y="2962656"/>
            <a:ext cx="7315200" cy="256032"/>
          </a:xfrm>
          <a:prstGeom prst="rect">
            <a:avLst/>
          </a:prstGeom>
          <a:noFill/>
          <a:ln/>
        </p:spPr>
        <p:txBody>
          <a:bodyPr wrap="square" lIns="0" tIns="0" rIns="0" bIns="0" rtlCol="0" anchor="ctr"/>
          <a:lstStyle/>
          <a:p>
            <a:pPr indent="0" marL="0">
              <a:buNone/>
            </a:pPr>
            <a:r>
              <a:rPr lang="en-US" sz="1100" b="1" spc="140" kern="0" dirty="0">
                <a:solidFill>
                  <a:srgbClr val="626D7A"/>
                </a:solidFill>
                <a:latin typeface="Calibri" pitchFamily="34" charset="0"/>
                <a:ea typeface="Calibri" pitchFamily="34" charset="-122"/>
                <a:cs typeface="Calibri" pitchFamily="34" charset="-120"/>
              </a:rPr>
              <a:t>WHERE IT LIVES IN THE PRODUCT</a:t>
            </a:r>
            <a:endParaRPr lang="en-US" sz="1100" dirty="0"/>
          </a:p>
        </p:txBody>
      </p:sp>
      <p:sp>
        <p:nvSpPr>
          <p:cNvPr id="24" name="Shape 22"/>
          <p:cNvSpPr/>
          <p:nvPr/>
        </p:nvSpPr>
        <p:spPr>
          <a:xfrm>
            <a:off x="594360" y="3346704"/>
            <a:ext cx="3514344" cy="1133856"/>
          </a:xfrm>
          <a:prstGeom prst="roundRect">
            <a:avLst>
              <a:gd name="adj" fmla="val 7258"/>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25" name="Shape 23"/>
          <p:cNvSpPr/>
          <p:nvPr/>
        </p:nvSpPr>
        <p:spPr>
          <a:xfrm>
            <a:off x="850392" y="3621024"/>
            <a:ext cx="256032" cy="256032"/>
          </a:xfrm>
          <a:prstGeom prst="ellipse">
            <a:avLst/>
          </a:prstGeom>
          <a:solidFill>
            <a:srgbClr val="176DD0"/>
          </a:solidFill>
          <a:ln w="12700">
            <a:solidFill>
              <a:srgbClr val="176DD0"/>
            </a:solidFill>
            <a:prstDash val="solid"/>
          </a:ln>
        </p:spPr>
      </p:sp>
      <p:sp>
        <p:nvSpPr>
          <p:cNvPr id="26" name="Text 24"/>
          <p:cNvSpPr txBox="1"/>
          <p:nvPr/>
        </p:nvSpPr>
        <p:spPr>
          <a:xfrm>
            <a:off x="1234440" y="3593592"/>
            <a:ext cx="2618232" cy="310896"/>
          </a:xfrm>
          <a:prstGeom prst="rect">
            <a:avLst/>
          </a:prstGeom>
          <a:noFill/>
          <a:ln/>
        </p:spPr>
        <p:txBody>
          <a:bodyPr wrap="square" lIns="0" tIns="0" rIns="0" bIns="0" rtlCol="0" anchor="ctr"/>
          <a:lstStyle/>
          <a:p>
            <a:pPr indent="0" marL="0">
              <a:buNone/>
            </a:pPr>
            <a:r>
              <a:rPr lang="en-US" sz="1500" b="1" dirty="0">
                <a:solidFill>
                  <a:srgbClr val="1B2736"/>
                </a:solidFill>
                <a:latin typeface="Calibri" pitchFamily="34" charset="0"/>
                <a:ea typeface="Calibri" pitchFamily="34" charset="-122"/>
                <a:cs typeface="Calibri" pitchFamily="34" charset="-120"/>
              </a:rPr>
              <a:t>Opportunities</a:t>
            </a:r>
            <a:endParaRPr lang="en-US" sz="1500" dirty="0"/>
          </a:p>
        </p:txBody>
      </p:sp>
      <p:sp>
        <p:nvSpPr>
          <p:cNvPr id="27" name="Text 25"/>
          <p:cNvSpPr txBox="1"/>
          <p:nvPr/>
        </p:nvSpPr>
        <p:spPr>
          <a:xfrm>
            <a:off x="850392" y="4005072"/>
            <a:ext cx="3002280" cy="384048"/>
          </a:xfrm>
          <a:prstGeom prst="rect">
            <a:avLst/>
          </a:prstGeom>
          <a:noFill/>
          <a:ln/>
        </p:spPr>
        <p:txBody>
          <a:bodyPr wrap="square" lIns="0" tIns="0" rIns="0" bIns="0" rtlCol="0" anchor="ctr"/>
          <a:lstStyle/>
          <a:p>
            <a:pPr indent="0" marL="0">
              <a:lnSpc>
                <a:spcPct val="115000"/>
              </a:lnSpc>
              <a:buNone/>
            </a:pPr>
            <a:r>
              <a:rPr lang="en-US" sz="1150" dirty="0">
                <a:solidFill>
                  <a:srgbClr val="4D5A66"/>
                </a:solidFill>
                <a:latin typeface="Calibri" pitchFamily="34" charset="0"/>
                <a:ea typeface="Calibri" pitchFamily="34" charset="-122"/>
                <a:cs typeface="Calibri" pitchFamily="34" charset="-120"/>
              </a:rPr>
              <a:t>Open requirements from any team, ranked by fit</a:t>
            </a:r>
            <a:endParaRPr lang="en-US" sz="1150" dirty="0"/>
          </a:p>
        </p:txBody>
      </p:sp>
      <p:sp>
        <p:nvSpPr>
          <p:cNvPr id="28" name="Shape 26"/>
          <p:cNvSpPr/>
          <p:nvPr/>
        </p:nvSpPr>
        <p:spPr>
          <a:xfrm>
            <a:off x="4337304" y="3346704"/>
            <a:ext cx="3514344" cy="1133856"/>
          </a:xfrm>
          <a:prstGeom prst="roundRect">
            <a:avLst>
              <a:gd name="adj" fmla="val 7258"/>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29" name="Shape 27"/>
          <p:cNvSpPr/>
          <p:nvPr/>
        </p:nvSpPr>
        <p:spPr>
          <a:xfrm>
            <a:off x="4593336" y="3621024"/>
            <a:ext cx="256032" cy="256032"/>
          </a:xfrm>
          <a:prstGeom prst="ellipse">
            <a:avLst/>
          </a:prstGeom>
          <a:solidFill>
            <a:srgbClr val="107A9C"/>
          </a:solidFill>
          <a:ln w="12700">
            <a:solidFill>
              <a:srgbClr val="107A9C"/>
            </a:solidFill>
            <a:prstDash val="solid"/>
          </a:ln>
        </p:spPr>
      </p:sp>
      <p:sp>
        <p:nvSpPr>
          <p:cNvPr id="30" name="Text 28"/>
          <p:cNvSpPr txBox="1"/>
          <p:nvPr/>
        </p:nvSpPr>
        <p:spPr>
          <a:xfrm>
            <a:off x="4977384" y="3593592"/>
            <a:ext cx="2618232" cy="310896"/>
          </a:xfrm>
          <a:prstGeom prst="rect">
            <a:avLst/>
          </a:prstGeom>
          <a:noFill/>
          <a:ln/>
        </p:spPr>
        <p:txBody>
          <a:bodyPr wrap="square" lIns="0" tIns="0" rIns="0" bIns="0" rtlCol="0" anchor="ctr"/>
          <a:lstStyle/>
          <a:p>
            <a:pPr indent="0" marL="0">
              <a:buNone/>
            </a:pPr>
            <a:r>
              <a:rPr lang="en-US" sz="1500" b="1" dirty="0">
                <a:solidFill>
                  <a:srgbClr val="1B2736"/>
                </a:solidFill>
                <a:latin typeface="Calibri" pitchFamily="34" charset="0"/>
                <a:ea typeface="Calibri" pitchFamily="34" charset="-122"/>
                <a:cs typeface="Calibri" pitchFamily="34" charset="-120"/>
              </a:rPr>
              <a:t>People &amp; Skills</a:t>
            </a:r>
            <a:endParaRPr lang="en-US" sz="1500" dirty="0"/>
          </a:p>
        </p:txBody>
      </p:sp>
      <p:sp>
        <p:nvSpPr>
          <p:cNvPr id="31" name="Text 29"/>
          <p:cNvSpPr txBox="1"/>
          <p:nvPr/>
        </p:nvSpPr>
        <p:spPr>
          <a:xfrm>
            <a:off x="4593336" y="4005072"/>
            <a:ext cx="3002280" cy="384048"/>
          </a:xfrm>
          <a:prstGeom prst="rect">
            <a:avLst/>
          </a:prstGeom>
          <a:noFill/>
          <a:ln/>
        </p:spPr>
        <p:txBody>
          <a:bodyPr wrap="square" lIns="0" tIns="0" rIns="0" bIns="0" rtlCol="0" anchor="ctr"/>
          <a:lstStyle/>
          <a:p>
            <a:pPr indent="0" marL="0">
              <a:lnSpc>
                <a:spcPct val="115000"/>
              </a:lnSpc>
              <a:buNone/>
            </a:pPr>
            <a:r>
              <a:rPr lang="en-US" sz="1150" dirty="0">
                <a:solidFill>
                  <a:srgbClr val="4D5A66"/>
                </a:solidFill>
                <a:latin typeface="Calibri" pitchFamily="34" charset="0"/>
                <a:ea typeface="Calibri" pitchFamily="34" charset="-122"/>
                <a:cs typeface="Calibri" pitchFamily="34" charset="-120"/>
              </a:rPr>
              <a:t>Find capability anywhere in the organisation</a:t>
            </a:r>
            <a:endParaRPr lang="en-US" sz="1150" dirty="0"/>
          </a:p>
        </p:txBody>
      </p:sp>
      <p:sp>
        <p:nvSpPr>
          <p:cNvPr id="32" name="Shape 30"/>
          <p:cNvSpPr/>
          <p:nvPr/>
        </p:nvSpPr>
        <p:spPr>
          <a:xfrm>
            <a:off x="8080248" y="3346704"/>
            <a:ext cx="3514344" cy="1133856"/>
          </a:xfrm>
          <a:prstGeom prst="roundRect">
            <a:avLst>
              <a:gd name="adj" fmla="val 7258"/>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33" name="Shape 31"/>
          <p:cNvSpPr/>
          <p:nvPr/>
        </p:nvSpPr>
        <p:spPr>
          <a:xfrm>
            <a:off x="8336280" y="3621024"/>
            <a:ext cx="256032" cy="256032"/>
          </a:xfrm>
          <a:prstGeom prst="ellipse">
            <a:avLst/>
          </a:prstGeom>
          <a:solidFill>
            <a:srgbClr val="128166"/>
          </a:solidFill>
          <a:ln w="12700">
            <a:solidFill>
              <a:srgbClr val="128166"/>
            </a:solidFill>
            <a:prstDash val="solid"/>
          </a:ln>
        </p:spPr>
      </p:sp>
      <p:sp>
        <p:nvSpPr>
          <p:cNvPr id="34" name="Text 32"/>
          <p:cNvSpPr txBox="1"/>
          <p:nvPr/>
        </p:nvSpPr>
        <p:spPr>
          <a:xfrm>
            <a:off x="8720328" y="3593592"/>
            <a:ext cx="2618232" cy="310896"/>
          </a:xfrm>
          <a:prstGeom prst="rect">
            <a:avLst/>
          </a:prstGeom>
          <a:noFill/>
          <a:ln/>
        </p:spPr>
        <p:txBody>
          <a:bodyPr wrap="square" lIns="0" tIns="0" rIns="0" bIns="0" rtlCol="0" anchor="ctr"/>
          <a:lstStyle/>
          <a:p>
            <a:pPr indent="0" marL="0">
              <a:buNone/>
            </a:pPr>
            <a:r>
              <a:rPr lang="en-US" sz="1500" b="1" dirty="0">
                <a:solidFill>
                  <a:srgbClr val="1B2736"/>
                </a:solidFill>
                <a:latin typeface="Calibri" pitchFamily="34" charset="0"/>
                <a:ea typeface="Calibri" pitchFamily="34" charset="-122"/>
                <a:cs typeface="Calibri" pitchFamily="34" charset="-120"/>
              </a:rPr>
              <a:t>Approvals</a:t>
            </a:r>
            <a:endParaRPr lang="en-US" sz="1500" dirty="0"/>
          </a:p>
        </p:txBody>
      </p:sp>
      <p:sp>
        <p:nvSpPr>
          <p:cNvPr id="35" name="Text 33"/>
          <p:cNvSpPr txBox="1"/>
          <p:nvPr/>
        </p:nvSpPr>
        <p:spPr>
          <a:xfrm>
            <a:off x="8336280" y="4005072"/>
            <a:ext cx="3002280" cy="384048"/>
          </a:xfrm>
          <a:prstGeom prst="rect">
            <a:avLst/>
          </a:prstGeom>
          <a:noFill/>
          <a:ln/>
        </p:spPr>
        <p:txBody>
          <a:bodyPr wrap="square" lIns="0" tIns="0" rIns="0" bIns="0" rtlCol="0" anchor="ctr"/>
          <a:lstStyle/>
          <a:p>
            <a:pPr indent="0" marL="0">
              <a:lnSpc>
                <a:spcPct val="115000"/>
              </a:lnSpc>
              <a:buNone/>
            </a:pPr>
            <a:r>
              <a:rPr lang="en-US" sz="1150" dirty="0">
                <a:solidFill>
                  <a:srgbClr val="4D5A66"/>
                </a:solidFill>
                <a:latin typeface="Calibri" pitchFamily="34" charset="0"/>
                <a:ea typeface="Calibri" pitchFamily="34" charset="-122"/>
                <a:cs typeface="Calibri" pitchFamily="34" charset="-120"/>
              </a:rPr>
              <a:t>Two-stage sign-off against offered bandwidth</a:t>
            </a:r>
            <a:endParaRPr lang="en-US" sz="1150" dirty="0"/>
          </a:p>
        </p:txBody>
      </p:sp>
      <p:sp>
        <p:nvSpPr>
          <p:cNvPr id="36" name="Shape 34"/>
          <p:cNvSpPr/>
          <p:nvPr/>
        </p:nvSpPr>
        <p:spPr>
          <a:xfrm>
            <a:off x="594360" y="4663440"/>
            <a:ext cx="3514344" cy="1133856"/>
          </a:xfrm>
          <a:prstGeom prst="roundRect">
            <a:avLst>
              <a:gd name="adj" fmla="val 7258"/>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37" name="Shape 35"/>
          <p:cNvSpPr/>
          <p:nvPr/>
        </p:nvSpPr>
        <p:spPr>
          <a:xfrm>
            <a:off x="850392" y="4937760"/>
            <a:ext cx="256032" cy="256032"/>
          </a:xfrm>
          <a:prstGeom prst="ellipse">
            <a:avLst/>
          </a:prstGeom>
          <a:solidFill>
            <a:srgbClr val="9A650D"/>
          </a:solidFill>
          <a:ln w="12700">
            <a:solidFill>
              <a:srgbClr val="9A650D"/>
            </a:solidFill>
            <a:prstDash val="solid"/>
          </a:ln>
        </p:spPr>
      </p:sp>
      <p:sp>
        <p:nvSpPr>
          <p:cNvPr id="38" name="Text 36"/>
          <p:cNvSpPr txBox="1"/>
          <p:nvPr/>
        </p:nvSpPr>
        <p:spPr>
          <a:xfrm>
            <a:off x="1234440" y="4910328"/>
            <a:ext cx="2618232" cy="310896"/>
          </a:xfrm>
          <a:prstGeom prst="rect">
            <a:avLst/>
          </a:prstGeom>
          <a:noFill/>
          <a:ln/>
        </p:spPr>
        <p:txBody>
          <a:bodyPr wrap="square" lIns="0" tIns="0" rIns="0" bIns="0" rtlCol="0" anchor="ctr"/>
          <a:lstStyle/>
          <a:p>
            <a:pPr indent="0" marL="0">
              <a:buNone/>
            </a:pPr>
            <a:r>
              <a:rPr lang="en-US" sz="1500" b="1" dirty="0">
                <a:solidFill>
                  <a:srgbClr val="1B2736"/>
                </a:solidFill>
                <a:latin typeface="Calibri" pitchFamily="34" charset="0"/>
                <a:ea typeface="Calibri" pitchFamily="34" charset="-122"/>
                <a:cs typeface="Calibri" pitchFamily="34" charset="-120"/>
              </a:rPr>
              <a:t>Learning</a:t>
            </a:r>
            <a:endParaRPr lang="en-US" sz="1500" dirty="0"/>
          </a:p>
        </p:txBody>
      </p:sp>
      <p:sp>
        <p:nvSpPr>
          <p:cNvPr id="39" name="Text 37"/>
          <p:cNvSpPr txBox="1"/>
          <p:nvPr/>
        </p:nvSpPr>
        <p:spPr>
          <a:xfrm>
            <a:off x="850392" y="5321808"/>
            <a:ext cx="3002280" cy="384048"/>
          </a:xfrm>
          <a:prstGeom prst="rect">
            <a:avLst/>
          </a:prstGeom>
          <a:noFill/>
          <a:ln/>
        </p:spPr>
        <p:txBody>
          <a:bodyPr wrap="square" lIns="0" tIns="0" rIns="0" bIns="0" rtlCol="0" anchor="ctr"/>
          <a:lstStyle/>
          <a:p>
            <a:pPr indent="0" marL="0">
              <a:lnSpc>
                <a:spcPct val="115000"/>
              </a:lnSpc>
              <a:buNone/>
            </a:pPr>
            <a:r>
              <a:rPr lang="en-US" sz="1150" dirty="0">
                <a:solidFill>
                  <a:srgbClr val="4D5A66"/>
                </a:solidFill>
                <a:latin typeface="Calibri" pitchFamily="34" charset="0"/>
                <a:ea typeface="Calibri" pitchFamily="34" charset="-122"/>
                <a:cs typeface="Calibri" pitchFamily="34" charset="-120"/>
              </a:rPr>
              <a:t>Colleague-run sessions on the skills in demand</a:t>
            </a:r>
            <a:endParaRPr lang="en-US" sz="1150" dirty="0"/>
          </a:p>
        </p:txBody>
      </p:sp>
      <p:sp>
        <p:nvSpPr>
          <p:cNvPr id="40" name="Shape 38"/>
          <p:cNvSpPr/>
          <p:nvPr/>
        </p:nvSpPr>
        <p:spPr>
          <a:xfrm>
            <a:off x="4337304" y="4663440"/>
            <a:ext cx="3514344" cy="1133856"/>
          </a:xfrm>
          <a:prstGeom prst="roundRect">
            <a:avLst>
              <a:gd name="adj" fmla="val 7258"/>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41" name="Shape 39"/>
          <p:cNvSpPr/>
          <p:nvPr/>
        </p:nvSpPr>
        <p:spPr>
          <a:xfrm>
            <a:off x="4593336" y="4937760"/>
            <a:ext cx="256032" cy="256032"/>
          </a:xfrm>
          <a:prstGeom prst="ellipse">
            <a:avLst/>
          </a:prstGeom>
          <a:solidFill>
            <a:srgbClr val="6758C8"/>
          </a:solidFill>
          <a:ln w="12700">
            <a:solidFill>
              <a:srgbClr val="6758C8"/>
            </a:solidFill>
            <a:prstDash val="solid"/>
          </a:ln>
        </p:spPr>
      </p:sp>
      <p:sp>
        <p:nvSpPr>
          <p:cNvPr id="42" name="Text 40"/>
          <p:cNvSpPr txBox="1"/>
          <p:nvPr/>
        </p:nvSpPr>
        <p:spPr>
          <a:xfrm>
            <a:off x="4977384" y="4910328"/>
            <a:ext cx="2618232" cy="310896"/>
          </a:xfrm>
          <a:prstGeom prst="rect">
            <a:avLst/>
          </a:prstGeom>
          <a:noFill/>
          <a:ln/>
        </p:spPr>
        <p:txBody>
          <a:bodyPr wrap="square" lIns="0" tIns="0" rIns="0" bIns="0" rtlCol="0" anchor="ctr"/>
          <a:lstStyle/>
          <a:p>
            <a:pPr indent="0" marL="0">
              <a:buNone/>
            </a:pPr>
            <a:r>
              <a:rPr lang="en-US" sz="1500" b="1" dirty="0">
                <a:solidFill>
                  <a:srgbClr val="1B2736"/>
                </a:solidFill>
                <a:latin typeface="Calibri" pitchFamily="34" charset="0"/>
                <a:ea typeface="Calibri" pitchFamily="34" charset="-122"/>
                <a:cs typeface="Calibri" pitchFamily="34" charset="-120"/>
              </a:rPr>
              <a:t>Insights</a:t>
            </a:r>
            <a:endParaRPr lang="en-US" sz="1500" dirty="0"/>
          </a:p>
        </p:txBody>
      </p:sp>
      <p:sp>
        <p:nvSpPr>
          <p:cNvPr id="43" name="Text 41"/>
          <p:cNvSpPr txBox="1"/>
          <p:nvPr/>
        </p:nvSpPr>
        <p:spPr>
          <a:xfrm>
            <a:off x="4593336" y="5321808"/>
            <a:ext cx="3002280" cy="384048"/>
          </a:xfrm>
          <a:prstGeom prst="rect">
            <a:avLst/>
          </a:prstGeom>
          <a:noFill/>
          <a:ln/>
        </p:spPr>
        <p:txBody>
          <a:bodyPr wrap="square" lIns="0" tIns="0" rIns="0" bIns="0" rtlCol="0" anchor="ctr"/>
          <a:lstStyle/>
          <a:p>
            <a:pPr indent="0" marL="0">
              <a:lnSpc>
                <a:spcPct val="115000"/>
              </a:lnSpc>
              <a:buNone/>
            </a:pPr>
            <a:r>
              <a:rPr lang="en-US" sz="1150" dirty="0">
                <a:solidFill>
                  <a:srgbClr val="4D5A66"/>
                </a:solidFill>
                <a:latin typeface="Calibri" pitchFamily="34" charset="0"/>
                <a:ea typeface="Calibri" pitchFamily="34" charset="-122"/>
                <a:cs typeface="Calibri" pitchFamily="34" charset="-120"/>
              </a:rPr>
              <a:t>Where skills are scarce, and who is contributing</a:t>
            </a:r>
            <a:endParaRPr lang="en-US" sz="1150" dirty="0"/>
          </a:p>
        </p:txBody>
      </p:sp>
      <p:sp>
        <p:nvSpPr>
          <p:cNvPr id="44" name="Shape 42"/>
          <p:cNvSpPr/>
          <p:nvPr/>
        </p:nvSpPr>
        <p:spPr>
          <a:xfrm>
            <a:off x="8080248" y="4663440"/>
            <a:ext cx="3514344" cy="1133856"/>
          </a:xfrm>
          <a:prstGeom prst="roundRect">
            <a:avLst>
              <a:gd name="adj" fmla="val 7258"/>
            </a:avLst>
          </a:prstGeom>
          <a:solidFill>
            <a:srgbClr val="FFFFFF"/>
          </a:solidFill>
          <a:ln w="12700">
            <a:solidFill>
              <a:srgbClr val="CBD2DC"/>
            </a:solidFill>
            <a:prstDash val="solid"/>
          </a:ln>
          <a:effectLst>
            <a:outerShdw sx="100000" sy="100000" kx="0" ky="0" algn="bl" rotWithShape="0" blurRad="127000" dist="25400" dir="5400000">
              <a:srgbClr val="16202C">
                <a:alpha val="10000"/>
              </a:srgbClr>
            </a:outerShdw>
          </a:effectLst>
        </p:spPr>
      </p:sp>
      <p:sp>
        <p:nvSpPr>
          <p:cNvPr id="45" name="Shape 43"/>
          <p:cNvSpPr/>
          <p:nvPr/>
        </p:nvSpPr>
        <p:spPr>
          <a:xfrm>
            <a:off x="8336280" y="4937760"/>
            <a:ext cx="256032" cy="256032"/>
          </a:xfrm>
          <a:prstGeom prst="ellipse">
            <a:avLst/>
          </a:prstGeom>
          <a:solidFill>
            <a:srgbClr val="0E6D8C"/>
          </a:solidFill>
          <a:ln w="12700">
            <a:solidFill>
              <a:srgbClr val="0E6D8C"/>
            </a:solidFill>
            <a:prstDash val="solid"/>
          </a:ln>
        </p:spPr>
      </p:sp>
      <p:sp>
        <p:nvSpPr>
          <p:cNvPr id="46" name="Text 44"/>
          <p:cNvSpPr txBox="1"/>
          <p:nvPr/>
        </p:nvSpPr>
        <p:spPr>
          <a:xfrm>
            <a:off x="8720328" y="4910328"/>
            <a:ext cx="2618232" cy="310896"/>
          </a:xfrm>
          <a:prstGeom prst="rect">
            <a:avLst/>
          </a:prstGeom>
          <a:noFill/>
          <a:ln/>
        </p:spPr>
        <p:txBody>
          <a:bodyPr wrap="square" lIns="0" tIns="0" rIns="0" bIns="0" rtlCol="0" anchor="ctr"/>
          <a:lstStyle/>
          <a:p>
            <a:pPr indent="0" marL="0">
              <a:buNone/>
            </a:pPr>
            <a:r>
              <a:rPr lang="en-US" sz="1500" b="1" dirty="0">
                <a:solidFill>
                  <a:srgbClr val="1B2736"/>
                </a:solidFill>
                <a:latin typeface="Calibri" pitchFamily="34" charset="0"/>
                <a:ea typeface="Calibri" pitchFamily="34" charset="-122"/>
                <a:cs typeface="Calibri" pitchFamily="34" charset="-120"/>
              </a:rPr>
              <a:t>Achievements</a:t>
            </a:r>
            <a:endParaRPr lang="en-US" sz="1500" dirty="0"/>
          </a:p>
        </p:txBody>
      </p:sp>
      <p:sp>
        <p:nvSpPr>
          <p:cNvPr id="47" name="Text 45"/>
          <p:cNvSpPr txBox="1"/>
          <p:nvPr/>
        </p:nvSpPr>
        <p:spPr>
          <a:xfrm>
            <a:off x="8336280" y="5321808"/>
            <a:ext cx="3002280" cy="384048"/>
          </a:xfrm>
          <a:prstGeom prst="rect">
            <a:avLst/>
          </a:prstGeom>
          <a:noFill/>
          <a:ln/>
        </p:spPr>
        <p:txBody>
          <a:bodyPr wrap="square" lIns="0" tIns="0" rIns="0" bIns="0" rtlCol="0" anchor="ctr"/>
          <a:lstStyle/>
          <a:p>
            <a:pPr indent="0" marL="0">
              <a:lnSpc>
                <a:spcPct val="115000"/>
              </a:lnSpc>
              <a:buNone/>
            </a:pPr>
            <a:r>
              <a:rPr lang="en-US" sz="1150" dirty="0">
                <a:solidFill>
                  <a:srgbClr val="4D5A66"/>
                </a:solidFill>
                <a:latin typeface="Calibri" pitchFamily="34" charset="0"/>
                <a:ea typeface="Calibri" pitchFamily="34" charset="-122"/>
                <a:cs typeface="Calibri" pitchFamily="34" charset="-120"/>
              </a:rPr>
              <a:t>Badges and tiers, configurable by an admin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736"/>
        </a:solidFill>
      </p:bgPr>
    </p:bg>
    <p:spTree>
      <p:nvGrpSpPr>
        <p:cNvPr id="1" name=""/>
        <p:cNvGrpSpPr/>
        <p:nvPr/>
      </p:nvGrpSpPr>
      <p:grpSpPr>
        <a:xfrm>
          <a:off x="0" y="0"/>
          <a:ext cx="0" cy="0"/>
          <a:chOff x="0" y="0"/>
          <a:chExt cx="0" cy="0"/>
        </a:xfrm>
      </p:grpSpPr>
      <p:sp>
        <p:nvSpPr>
          <p:cNvPr id="2" name="Text 0"/>
          <p:cNvSpPr txBox="1"/>
          <p:nvPr/>
        </p:nvSpPr>
        <p:spPr>
          <a:xfrm>
            <a:off x="594360" y="603504"/>
            <a:ext cx="10058400" cy="603504"/>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Questions we expect</a:t>
            </a:r>
            <a:endParaRPr lang="en-US" sz="3400" dirty="0"/>
          </a:p>
        </p:txBody>
      </p:sp>
      <p:sp>
        <p:nvSpPr>
          <p:cNvPr id="3" name="Text 1"/>
          <p:cNvSpPr txBox="1"/>
          <p:nvPr/>
        </p:nvSpPr>
        <p:spPr>
          <a:xfrm>
            <a:off x="594360" y="1188720"/>
            <a:ext cx="10058400" cy="310896"/>
          </a:xfrm>
          <a:prstGeom prst="rect">
            <a:avLst/>
          </a:prstGeom>
          <a:noFill/>
          <a:ln/>
        </p:spPr>
        <p:txBody>
          <a:bodyPr wrap="square" lIns="0" tIns="0" rIns="0" bIns="0" rtlCol="0" anchor="ctr"/>
          <a:lstStyle/>
          <a:p>
            <a:pPr indent="0" marL="0">
              <a:buNone/>
            </a:pPr>
            <a:r>
              <a:rPr lang="en-US" sz="1450" dirty="0">
                <a:solidFill>
                  <a:srgbClr val="A8CAEE"/>
                </a:solidFill>
                <a:latin typeface="Calibri" pitchFamily="34" charset="0"/>
                <a:ea typeface="Calibri" pitchFamily="34" charset="-122"/>
                <a:cs typeface="Calibri" pitchFamily="34" charset="-120"/>
              </a:rPr>
              <a:t>Raised here deliberately — we will take these live.</a:t>
            </a:r>
            <a:endParaRPr lang="en-US" sz="1450" dirty="0"/>
          </a:p>
        </p:txBody>
      </p:sp>
      <p:sp>
        <p:nvSpPr>
          <p:cNvPr id="4" name="Shape 2"/>
          <p:cNvSpPr/>
          <p:nvPr/>
        </p:nvSpPr>
        <p:spPr>
          <a:xfrm>
            <a:off x="594360" y="1792224"/>
            <a:ext cx="11000232" cy="932688"/>
          </a:xfrm>
          <a:prstGeom prst="roundRect">
            <a:avLst>
              <a:gd name="adj" fmla="val 7843"/>
            </a:avLst>
          </a:prstGeom>
          <a:solidFill>
            <a:srgbClr val="23323F"/>
          </a:solidFill>
          <a:ln w="12700">
            <a:solidFill>
              <a:srgbClr val="31414F"/>
            </a:solidFill>
            <a:prstDash val="solid"/>
          </a:ln>
        </p:spPr>
      </p:sp>
      <p:sp>
        <p:nvSpPr>
          <p:cNvPr id="5" name="Shape 3"/>
          <p:cNvSpPr/>
          <p:nvPr/>
        </p:nvSpPr>
        <p:spPr>
          <a:xfrm>
            <a:off x="886968" y="2075688"/>
            <a:ext cx="365760" cy="365760"/>
          </a:xfrm>
          <a:prstGeom prst="ellipse">
            <a:avLst/>
          </a:prstGeom>
          <a:solidFill>
            <a:srgbClr val="176DD0"/>
          </a:solidFill>
          <a:ln w="12700">
            <a:solidFill>
              <a:srgbClr val="176DD0"/>
            </a:solidFill>
            <a:prstDash val="solid"/>
          </a:ln>
        </p:spPr>
      </p:sp>
      <p:sp>
        <p:nvSpPr>
          <p:cNvPr id="6" name="Text 4"/>
          <p:cNvSpPr txBox="1"/>
          <p:nvPr/>
        </p:nvSpPr>
        <p:spPr>
          <a:xfrm>
            <a:off x="886968" y="207568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Q1</a:t>
            </a:r>
            <a:endParaRPr lang="en-US" sz="1100" dirty="0"/>
          </a:p>
        </p:txBody>
      </p:sp>
      <p:sp>
        <p:nvSpPr>
          <p:cNvPr id="7" name="Text 5"/>
          <p:cNvSpPr txBox="1"/>
          <p:nvPr/>
        </p:nvSpPr>
        <p:spPr>
          <a:xfrm>
            <a:off x="1453896" y="1975104"/>
            <a:ext cx="9811512" cy="585216"/>
          </a:xfrm>
          <a:prstGeom prst="rect">
            <a:avLst/>
          </a:prstGeom>
          <a:noFill/>
          <a:ln/>
        </p:spPr>
        <p:txBody>
          <a:bodyPr wrap="square" lIns="0" tIns="0" rIns="0" bIns="0" rtlCol="0" anchor="ctr"/>
          <a:lstStyle/>
          <a:p>
            <a:pPr indent="0" marL="0">
              <a:lnSpc>
                <a:spcPct val="120000"/>
              </a:lnSpc>
              <a:buNone/>
            </a:pPr>
            <a:r>
              <a:rPr lang="en-US" sz="1350" dirty="0">
                <a:solidFill>
                  <a:srgbClr val="E0EAF4"/>
                </a:solidFill>
                <a:latin typeface="Calibri" pitchFamily="34" charset="0"/>
                <a:ea typeface="Calibri" pitchFamily="34" charset="-122"/>
                <a:cs typeface="Calibri" pitchFamily="34" charset="-120"/>
              </a:rPr>
              <a:t>How is this different from asking someone on Teams — and what stops it becoming another tool nobody opens after month two?</a:t>
            </a:r>
            <a:endParaRPr lang="en-US" sz="1350" dirty="0"/>
          </a:p>
        </p:txBody>
      </p:sp>
      <p:sp>
        <p:nvSpPr>
          <p:cNvPr id="8" name="Shape 6"/>
          <p:cNvSpPr/>
          <p:nvPr/>
        </p:nvSpPr>
        <p:spPr>
          <a:xfrm>
            <a:off x="594360" y="2926080"/>
            <a:ext cx="11000232" cy="932688"/>
          </a:xfrm>
          <a:prstGeom prst="roundRect">
            <a:avLst>
              <a:gd name="adj" fmla="val 7843"/>
            </a:avLst>
          </a:prstGeom>
          <a:solidFill>
            <a:srgbClr val="23323F"/>
          </a:solidFill>
          <a:ln w="12700">
            <a:solidFill>
              <a:srgbClr val="31414F"/>
            </a:solidFill>
            <a:prstDash val="solid"/>
          </a:ln>
        </p:spPr>
      </p:sp>
      <p:sp>
        <p:nvSpPr>
          <p:cNvPr id="9" name="Shape 7"/>
          <p:cNvSpPr/>
          <p:nvPr/>
        </p:nvSpPr>
        <p:spPr>
          <a:xfrm>
            <a:off x="886968" y="3209544"/>
            <a:ext cx="365760" cy="365760"/>
          </a:xfrm>
          <a:prstGeom prst="ellipse">
            <a:avLst/>
          </a:prstGeom>
          <a:solidFill>
            <a:srgbClr val="176DD0"/>
          </a:solidFill>
          <a:ln w="12700">
            <a:solidFill>
              <a:srgbClr val="176DD0"/>
            </a:solidFill>
            <a:prstDash val="solid"/>
          </a:ln>
        </p:spPr>
      </p:sp>
      <p:sp>
        <p:nvSpPr>
          <p:cNvPr id="10" name="Text 8"/>
          <p:cNvSpPr txBox="1"/>
          <p:nvPr/>
        </p:nvSpPr>
        <p:spPr>
          <a:xfrm>
            <a:off x="886968" y="3209544"/>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Q2</a:t>
            </a:r>
            <a:endParaRPr lang="en-US" sz="1100" dirty="0"/>
          </a:p>
        </p:txBody>
      </p:sp>
      <p:sp>
        <p:nvSpPr>
          <p:cNvPr id="11" name="Text 9"/>
          <p:cNvSpPr txBox="1"/>
          <p:nvPr/>
        </p:nvSpPr>
        <p:spPr>
          <a:xfrm>
            <a:off x="1453896" y="3108960"/>
            <a:ext cx="9811512" cy="585216"/>
          </a:xfrm>
          <a:prstGeom prst="rect">
            <a:avLst/>
          </a:prstGeom>
          <a:noFill/>
          <a:ln/>
        </p:spPr>
        <p:txBody>
          <a:bodyPr wrap="square" lIns="0" tIns="0" rIns="0" bIns="0" rtlCol="0" anchor="ctr"/>
          <a:lstStyle/>
          <a:p>
            <a:pPr indent="0" marL="0">
              <a:lnSpc>
                <a:spcPct val="120000"/>
              </a:lnSpc>
              <a:buNone/>
            </a:pPr>
            <a:r>
              <a:rPr lang="en-US" sz="1350" dirty="0">
                <a:solidFill>
                  <a:srgbClr val="E0EAF4"/>
                </a:solidFill>
                <a:latin typeface="Calibri" pitchFamily="34" charset="0"/>
                <a:ea typeface="Calibri" pitchFamily="34" charset="-122"/>
                <a:cs typeface="Calibri" pitchFamily="34" charset="-120"/>
              </a:rPr>
              <a:t>If an engineer contributes to another department, whose budget carries that time, and how do we keep it from pulling against committed delivery?</a:t>
            </a:r>
            <a:endParaRPr lang="en-US" sz="1350" dirty="0"/>
          </a:p>
        </p:txBody>
      </p:sp>
      <p:sp>
        <p:nvSpPr>
          <p:cNvPr id="12" name="Shape 10"/>
          <p:cNvSpPr/>
          <p:nvPr/>
        </p:nvSpPr>
        <p:spPr>
          <a:xfrm>
            <a:off x="594360" y="4059936"/>
            <a:ext cx="11000232" cy="932688"/>
          </a:xfrm>
          <a:prstGeom prst="roundRect">
            <a:avLst>
              <a:gd name="adj" fmla="val 7843"/>
            </a:avLst>
          </a:prstGeom>
          <a:solidFill>
            <a:srgbClr val="23323F"/>
          </a:solidFill>
          <a:ln w="12700">
            <a:solidFill>
              <a:srgbClr val="31414F"/>
            </a:solidFill>
            <a:prstDash val="solid"/>
          </a:ln>
        </p:spPr>
      </p:sp>
      <p:sp>
        <p:nvSpPr>
          <p:cNvPr id="13" name="Shape 11"/>
          <p:cNvSpPr/>
          <p:nvPr/>
        </p:nvSpPr>
        <p:spPr>
          <a:xfrm>
            <a:off x="886968" y="4343400"/>
            <a:ext cx="365760" cy="365760"/>
          </a:xfrm>
          <a:prstGeom prst="ellipse">
            <a:avLst/>
          </a:prstGeom>
          <a:solidFill>
            <a:srgbClr val="176DD0"/>
          </a:solidFill>
          <a:ln w="12700">
            <a:solidFill>
              <a:srgbClr val="176DD0"/>
            </a:solidFill>
            <a:prstDash val="solid"/>
          </a:ln>
        </p:spPr>
      </p:sp>
      <p:sp>
        <p:nvSpPr>
          <p:cNvPr id="14" name="Text 12"/>
          <p:cNvSpPr txBox="1"/>
          <p:nvPr/>
        </p:nvSpPr>
        <p:spPr>
          <a:xfrm>
            <a:off x="886968" y="43434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Q3</a:t>
            </a:r>
            <a:endParaRPr lang="en-US" sz="1100" dirty="0"/>
          </a:p>
        </p:txBody>
      </p:sp>
      <p:sp>
        <p:nvSpPr>
          <p:cNvPr id="15" name="Text 13"/>
          <p:cNvSpPr txBox="1"/>
          <p:nvPr/>
        </p:nvSpPr>
        <p:spPr>
          <a:xfrm>
            <a:off x="1453896" y="4242816"/>
            <a:ext cx="9811512" cy="585216"/>
          </a:xfrm>
          <a:prstGeom prst="rect">
            <a:avLst/>
          </a:prstGeom>
          <a:noFill/>
          <a:ln/>
        </p:spPr>
        <p:txBody>
          <a:bodyPr wrap="square" lIns="0" tIns="0" rIns="0" bIns="0" rtlCol="0" anchor="ctr"/>
          <a:lstStyle/>
          <a:p>
            <a:pPr indent="0" marL="0">
              <a:lnSpc>
                <a:spcPct val="120000"/>
              </a:lnSpc>
              <a:buNone/>
            </a:pPr>
            <a:r>
              <a:rPr lang="en-US" sz="1350" dirty="0">
                <a:solidFill>
                  <a:srgbClr val="E0EAF4"/>
                </a:solidFill>
                <a:latin typeface="Calibri" pitchFamily="34" charset="0"/>
                <a:ea typeface="Calibri" pitchFamily="34" charset="-122"/>
                <a:cs typeface="Calibri" pitchFamily="34" charset="-120"/>
              </a:rPr>
              <a:t>The fit score and bandwidth check are rule-based, not learned. When a manager disagrees with the recommendation, who owns the consequences of that approval?</a:t>
            </a:r>
            <a:endParaRPr lang="en-US" sz="1350" dirty="0"/>
          </a:p>
        </p:txBody>
      </p:sp>
      <p:sp>
        <p:nvSpPr>
          <p:cNvPr id="16" name="Shape 14"/>
          <p:cNvSpPr/>
          <p:nvPr/>
        </p:nvSpPr>
        <p:spPr>
          <a:xfrm>
            <a:off x="594360" y="5193792"/>
            <a:ext cx="11000232" cy="932688"/>
          </a:xfrm>
          <a:prstGeom prst="roundRect">
            <a:avLst>
              <a:gd name="adj" fmla="val 7843"/>
            </a:avLst>
          </a:prstGeom>
          <a:solidFill>
            <a:srgbClr val="23323F"/>
          </a:solidFill>
          <a:ln w="12700">
            <a:solidFill>
              <a:srgbClr val="31414F"/>
            </a:solidFill>
            <a:prstDash val="solid"/>
          </a:ln>
        </p:spPr>
      </p:sp>
      <p:sp>
        <p:nvSpPr>
          <p:cNvPr id="17" name="Shape 15"/>
          <p:cNvSpPr/>
          <p:nvPr/>
        </p:nvSpPr>
        <p:spPr>
          <a:xfrm>
            <a:off x="886968" y="5477256"/>
            <a:ext cx="365760" cy="365760"/>
          </a:xfrm>
          <a:prstGeom prst="ellipse">
            <a:avLst/>
          </a:prstGeom>
          <a:solidFill>
            <a:srgbClr val="176DD0"/>
          </a:solidFill>
          <a:ln w="12700">
            <a:solidFill>
              <a:srgbClr val="176DD0"/>
            </a:solidFill>
            <a:prstDash val="solid"/>
          </a:ln>
        </p:spPr>
      </p:sp>
      <p:sp>
        <p:nvSpPr>
          <p:cNvPr id="18" name="Text 16"/>
          <p:cNvSpPr txBox="1"/>
          <p:nvPr/>
        </p:nvSpPr>
        <p:spPr>
          <a:xfrm>
            <a:off x="886968" y="5477256"/>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Q4</a:t>
            </a:r>
            <a:endParaRPr lang="en-US" sz="1100" dirty="0"/>
          </a:p>
        </p:txBody>
      </p:sp>
      <p:sp>
        <p:nvSpPr>
          <p:cNvPr id="19" name="Text 17"/>
          <p:cNvSpPr txBox="1"/>
          <p:nvPr/>
        </p:nvSpPr>
        <p:spPr>
          <a:xfrm>
            <a:off x="1453896" y="5376672"/>
            <a:ext cx="9811512" cy="585216"/>
          </a:xfrm>
          <a:prstGeom prst="rect">
            <a:avLst/>
          </a:prstGeom>
          <a:noFill/>
          <a:ln/>
        </p:spPr>
        <p:txBody>
          <a:bodyPr wrap="square" lIns="0" tIns="0" rIns="0" bIns="0" rtlCol="0" anchor="ctr"/>
          <a:lstStyle/>
          <a:p>
            <a:pPr indent="0" marL="0">
              <a:lnSpc>
                <a:spcPct val="120000"/>
              </a:lnSpc>
              <a:buNone/>
            </a:pPr>
            <a:r>
              <a:rPr lang="en-US" sz="1350" dirty="0">
                <a:solidFill>
                  <a:srgbClr val="E0EAF4"/>
                </a:solidFill>
                <a:latin typeface="Calibri" pitchFamily="34" charset="0"/>
                <a:ea typeface="Calibri" pitchFamily="34" charset="-122"/>
                <a:cs typeface="Calibri" pitchFamily="34" charset="-120"/>
              </a:rPr>
              <a:t>Recognition data sits against named people. How do we keep it from being read as a performance signal, and what does that mean for how we govern it?</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MBXchange Overview</dc:title>
  <dc:subject>PptxGenJS Presentation</dc:subject>
  <dc:creator>MBXchange</dc:creator>
  <cp:lastModifiedBy>MBXchange</cp:lastModifiedBy>
  <cp:revision>1</cp:revision>
  <dcterms:created xsi:type="dcterms:W3CDTF">2026-08-26T18:51:15Z</dcterms:created>
  <dcterms:modified xsi:type="dcterms:W3CDTF">2026-08-26T18:51:15Z</dcterms:modified>
</cp:coreProperties>
</file>