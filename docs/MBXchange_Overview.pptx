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" Target="slide2.xml"/><Relationship Id="rId1" Type="http://schemas.openxmlformats.org/officeDocument/2006/relationships/image" Target="../media/image-1-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" Target="slide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0000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private/tmp/claude-501/-Users-rohitchinagudi-Downloads-Playground/eda809d8-849d-4b38-ae50-5b04005c3ccd/scratchpad/deck/logo_on_ligh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2920" y="4572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1078992" y="438912"/>
            <a:ext cx="13258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MB</a:t>
            </a:r>
            <a:pPr indent="0" marL="0">
              <a:buNone/>
            </a:pPr>
            <a:r>
              <a:rPr lang="en-US" sz="1700" b="1" dirty="0">
                <a:solidFill>
                  <a:srgbClr val="D97757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X</a:t>
            </a:r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change</a:t>
            </a:r>
            <a:endParaRPr lang="en-US" sz="1700" dirty="0"/>
          </a:p>
        </p:txBody>
      </p:sp>
      <p:sp>
        <p:nvSpPr>
          <p:cNvPr id="4" name="Shape 1"/>
          <p:cNvSpPr/>
          <p:nvPr/>
        </p:nvSpPr>
        <p:spPr>
          <a:xfrm>
            <a:off x="2450592" y="484632"/>
            <a:ext cx="777240" cy="219456"/>
          </a:xfrm>
          <a:prstGeom prst="roundRect">
            <a:avLst>
              <a:gd name="adj" fmla="val 50000"/>
            </a:avLst>
          </a:prstGeom>
          <a:solidFill>
            <a:srgbClr val="1C1C1A"/>
          </a:solidFill>
          <a:ln/>
        </p:spPr>
      </p:sp>
      <p:sp>
        <p:nvSpPr>
          <p:cNvPr id="5" name="Text 2"/>
          <p:cNvSpPr/>
          <p:nvPr/>
        </p:nvSpPr>
        <p:spPr>
          <a:xfrm>
            <a:off x="2450592" y="484632"/>
            <a:ext cx="7772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D9775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INTERNAL</a:t>
            </a:r>
            <a:endParaRPr lang="en-US" sz="750" dirty="0"/>
          </a:p>
        </p:txBody>
      </p:sp>
      <p:sp>
        <p:nvSpPr>
          <p:cNvPr id="6" name="Text 3"/>
          <p:cNvSpPr/>
          <p:nvPr/>
        </p:nvSpPr>
        <p:spPr>
          <a:xfrm>
            <a:off x="1078992" y="786384"/>
            <a:ext cx="310896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  ·  Collaborate  ·  Contribute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02920" y="2331720"/>
            <a:ext cx="7863840" cy="1691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Projects beyond</a:t>
            </a:r>
            <a:endParaRPr lang="en-US" sz="44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day-to-day work.</a:t>
            </a:r>
            <a:endParaRPr lang="en-US" sz="4400" dirty="0"/>
          </a:p>
        </p:txBody>
      </p:sp>
      <p:sp>
        <p:nvSpPr>
          <p:cNvPr id="8" name="Text 5"/>
          <p:cNvSpPr/>
          <p:nvPr/>
        </p:nvSpPr>
        <p:spPr>
          <a:xfrm>
            <a:off x="521208" y="4041648"/>
            <a:ext cx="61264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100"/>
              </a:lnSpc>
              <a:buNone/>
            </a:pPr>
            <a:r>
              <a:rPr lang="en-US" sz="1400" dirty="0">
                <a:solidFill>
                  <a:srgbClr val="C9C7C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help across departments, lend your skills where they are needed, and keep every request moving through the right approvals — in one place.</a:t>
            </a:r>
            <a:endParaRPr lang="en-US" sz="1400" dirty="0"/>
          </a:p>
        </p:txBody>
      </p:sp>
      <p:sp>
        <p:nvSpPr>
          <p:cNvPr id="9" name="Shape 6"/>
          <p:cNvSpPr/>
          <p:nvPr/>
        </p:nvSpPr>
        <p:spPr>
          <a:xfrm>
            <a:off x="548640" y="5047488"/>
            <a:ext cx="82296" cy="82296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0" name="Text 7"/>
          <p:cNvSpPr/>
          <p:nvPr/>
        </p:nvSpPr>
        <p:spPr>
          <a:xfrm>
            <a:off x="777240" y="492861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a requirement and get matched with the right people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548640" y="5413248"/>
            <a:ext cx="82296" cy="82296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2" name="Text 9"/>
          <p:cNvSpPr/>
          <p:nvPr/>
        </p:nvSpPr>
        <p:spPr>
          <a:xfrm>
            <a:off x="777240" y="529437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Apply to opportunities that match your declared skills</a:t>
            </a:r>
            <a:endParaRPr lang="en-US" sz="1250" dirty="0"/>
          </a:p>
        </p:txBody>
      </p:sp>
      <p:sp>
        <p:nvSpPr>
          <p:cNvPr id="13" name="Shape 10"/>
          <p:cNvSpPr/>
          <p:nvPr/>
        </p:nvSpPr>
        <p:spPr>
          <a:xfrm>
            <a:off x="548640" y="5779008"/>
            <a:ext cx="82296" cy="82296"/>
          </a:xfrm>
          <a:prstGeom prst="ellipse">
            <a:avLst/>
          </a:prstGeom>
          <a:solidFill>
            <a:srgbClr val="D97757"/>
          </a:solidFill>
          <a:ln/>
        </p:spPr>
      </p:sp>
      <p:sp>
        <p:nvSpPr>
          <p:cNvPr id="14" name="Text 11"/>
          <p:cNvSpPr/>
          <p:nvPr/>
        </p:nvSpPr>
        <p:spPr>
          <a:xfrm>
            <a:off x="777240" y="5660136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E4E2D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portfolio of gigs, badges and recognition</a:t>
            </a:r>
            <a:endParaRPr lang="en-US" sz="1250" dirty="0"/>
          </a:p>
        </p:txBody>
      </p:sp>
      <p:sp>
        <p:nvSpPr>
          <p:cNvPr id="15" name="Shape 12"/>
          <p:cNvSpPr/>
          <p:nvPr/>
        </p:nvSpPr>
        <p:spPr>
          <a:xfrm>
            <a:off x="8732520" y="1508760"/>
            <a:ext cx="10973" cy="4160520"/>
          </a:xfrm>
          <a:prstGeom prst="rect">
            <a:avLst/>
          </a:prstGeom>
          <a:solidFill>
            <a:srgbClr val="2A2A28"/>
          </a:solidFill>
          <a:ln/>
        </p:spPr>
      </p:sp>
      <p:sp>
        <p:nvSpPr>
          <p:cNvPr id="16" name="Text 13"/>
          <p:cNvSpPr/>
          <p:nvPr/>
        </p:nvSpPr>
        <p:spPr>
          <a:xfrm>
            <a:off x="9006840" y="15087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150" kern="0" dirty="0">
                <a:solidFill>
                  <a:srgbClr val="8A8A8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 FOR EVERY ROLE</a:t>
            </a:r>
            <a:endParaRPr lang="en-US" sz="900" dirty="0"/>
          </a:p>
        </p:txBody>
      </p:sp>
      <p:sp>
        <p:nvSpPr>
          <p:cNvPr id="17" name="Text 14"/>
          <p:cNvSpPr/>
          <p:nvPr/>
        </p:nvSpPr>
        <p:spPr>
          <a:xfrm>
            <a:off x="9006840" y="192024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Employee</a:t>
            </a:r>
            <a:endParaRPr lang="en-US" sz="1300" dirty="0"/>
          </a:p>
        </p:txBody>
      </p:sp>
      <p:sp>
        <p:nvSpPr>
          <p:cNvPr id="18" name="Text 15"/>
          <p:cNvSpPr/>
          <p:nvPr/>
        </p:nvSpPr>
        <p:spPr>
          <a:xfrm>
            <a:off x="9006840" y="219456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Post, apply, and grow a track record across teams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9006840" y="297180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Manager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9006840" y="324612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 against real declared capacity — with conditions if needed</a:t>
            </a:r>
            <a:endParaRPr lang="en-US" sz="1000" dirty="0"/>
          </a:p>
        </p:txBody>
      </p:sp>
      <p:sp>
        <p:nvSpPr>
          <p:cNvPr id="21" name="Text 18"/>
          <p:cNvSpPr/>
          <p:nvPr/>
        </p:nvSpPr>
        <p:spPr>
          <a:xfrm>
            <a:off x="9006840" y="4023360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</a:t>
            </a:r>
            <a:endParaRPr lang="en-US" sz="1300" dirty="0"/>
          </a:p>
        </p:txBody>
      </p:sp>
      <p:sp>
        <p:nvSpPr>
          <p:cNvPr id="22" name="Text 19"/>
          <p:cNvSpPr/>
          <p:nvPr/>
        </p:nvSpPr>
        <p:spPr>
          <a:xfrm>
            <a:off x="9006840" y="4297680"/>
            <a:ext cx="2743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50"/>
              </a:lnSpc>
              <a:buNone/>
            </a:pPr>
            <a:r>
              <a:rPr lang="en-US" sz="1000" dirty="0">
                <a:solidFill>
                  <a:srgbClr val="9A9A9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Provision accounts, govern access, read the audit trail</a:t>
            </a:r>
            <a:endParaRPr lang="en-US" sz="1000" dirty="0"/>
          </a:p>
        </p:txBody>
      </p:sp>
      <p:sp>
        <p:nvSpPr>
          <p:cNvPr id="23" name="Shape 20"/>
          <p:cNvSpPr/>
          <p:nvPr/>
        </p:nvSpPr>
        <p:spPr>
          <a:xfrm>
            <a:off x="502920" y="5989320"/>
            <a:ext cx="1554480" cy="365760"/>
          </a:xfrm>
          <a:prstGeom prst="roundRect">
            <a:avLst>
              <a:gd name="adj" fmla="val 50000"/>
            </a:avLst>
          </a:prstGeom>
          <a:solidFill>
            <a:srgbClr val="D97757"/>
          </a:solidFill>
          <a:ln/>
        </p:spPr>
      </p:sp>
      <p:sp>
        <p:nvSpPr>
          <p:cNvPr id="24" name="Text 21"/>
          <p:cNvSpPr/>
          <p:nvPr/>
        </p:nvSpPr>
        <p:spPr>
          <a:xfrm>
            <a:off x="502920" y="5989320"/>
            <a:ext cx="1554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C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Overview</a:t>
            </a:r>
            <a:endParaRPr lang="en-US" sz="1050" dirty="0"/>
          </a:p>
        </p:txBody>
      </p:sp>
      <p:sp>
        <p:nvSpPr>
          <p:cNvPr id="25" name="Shape 22"/>
          <p:cNvSpPr/>
          <p:nvPr/>
        </p:nvSpPr>
        <p:spPr>
          <a:xfrm>
            <a:off x="2148840" y="5989320"/>
            <a:ext cx="1828800" cy="365760"/>
          </a:xfrm>
          <a:prstGeom prst="roundRect">
            <a:avLst>
              <a:gd name="adj" fmla="val 50000"/>
            </a:avLst>
          </a:prstGeom>
          <a:ln w="12700">
            <a:solidFill>
              <a:srgbClr val="4A4A46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2148840" y="598932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works  ▸</a:t>
            </a:r>
            <a:endParaRPr lang="en-US" sz="1050" dirty="0"/>
          </a:p>
        </p:txBody>
      </p:sp>
      <p:sp>
        <p:nvSpPr>
          <p:cNvPr id="27" name="Shape 24">
            <a:hlinkClick r:id="rId2" tooltip="" action="ppaction://hlinksldjump"/>
          </p:cNvPr>
          <p:cNvSpPr/>
          <p:nvPr/>
        </p:nvSpPr>
        <p:spPr>
          <a:xfrm>
            <a:off x="2148840" y="5989320"/>
            <a:ext cx="1828800" cy="365760"/>
          </a:xfrm>
          <a:prstGeom prst="rect">
            <a:avLst/>
          </a:prstGeom>
          <a:ln/>
        </p:spPr>
      </p:sp>
      <p:sp>
        <p:nvSpPr>
          <p:cNvPr id="28" name="Text 25"/>
          <p:cNvSpPr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Mercedes-Benz internal platform  ·  Access provisioned by your administrator</a:t>
            </a:r>
            <a:endParaRPr lang="en-US" sz="900" dirty="0"/>
          </a:p>
        </p:txBody>
      </p:sp>
      <p:sp>
        <p:nvSpPr>
          <p:cNvPr id="29" name="Text 26"/>
          <p:cNvSpPr/>
          <p:nvPr/>
        </p:nvSpPr>
        <p:spPr>
          <a:xfrm>
            <a:off x="1123157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B6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/ 2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9F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02920" y="457200"/>
            <a:ext cx="1371600" cy="329184"/>
          </a:xfrm>
          <a:prstGeom prst="roundRect">
            <a:avLst>
              <a:gd name="adj" fmla="val 50000"/>
            </a:avLst>
          </a:prstGeom>
          <a:ln w="12700">
            <a:solidFill>
              <a:srgbClr val="E4E2DB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502920" y="457200"/>
            <a:ext cx="1371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◂  Overview</a:t>
            </a:r>
            <a:endParaRPr lang="en-US" sz="950" dirty="0"/>
          </a:p>
        </p:txBody>
      </p:sp>
      <p:sp>
        <p:nvSpPr>
          <p:cNvPr id="4" name="Shape 2">
            <a:hlinkClick r:id="rId1" tooltip="" action="ppaction://hlinksldjump"/>
          </p:cNvPr>
          <p:cNvSpPr/>
          <p:nvPr/>
        </p:nvSpPr>
        <p:spPr>
          <a:xfrm>
            <a:off x="502920" y="457200"/>
            <a:ext cx="1371600" cy="329184"/>
          </a:xfrm>
          <a:prstGeom prst="rect">
            <a:avLst/>
          </a:prstGeom>
          <a:ln/>
        </p:spPr>
      </p:sp>
      <p:sp>
        <p:nvSpPr>
          <p:cNvPr id="5" name="Text 3"/>
          <p:cNvSpPr/>
          <p:nvPr/>
        </p:nvSpPr>
        <p:spPr>
          <a:xfrm>
            <a:off x="502920" y="859536"/>
            <a:ext cx="7315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How MBXchange works</a:t>
            </a:r>
            <a:endParaRPr lang="en-US" sz="2700" dirty="0"/>
          </a:p>
        </p:txBody>
      </p:sp>
      <p:sp>
        <p:nvSpPr>
          <p:cNvPr id="6" name="Text 4"/>
          <p:cNvSpPr/>
          <p:nvPr/>
        </p:nvSpPr>
        <p:spPr>
          <a:xfrm>
            <a:off x="502920" y="1316736"/>
            <a:ext cx="6766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 posted requirement to recognised, completed work.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02920" y="1783080"/>
            <a:ext cx="2514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9224" y="1920240"/>
            <a:ext cx="292608" cy="292608"/>
          </a:xfrm>
          <a:prstGeom prst="ellipse">
            <a:avLst/>
          </a:prstGeom>
          <a:solidFill>
            <a:srgbClr val="F3E3DC"/>
          </a:solidFill>
          <a:ln/>
        </p:spPr>
      </p:sp>
      <p:sp>
        <p:nvSpPr>
          <p:cNvPr id="9" name="Text 7"/>
          <p:cNvSpPr/>
          <p:nvPr/>
        </p:nvSpPr>
        <p:spPr>
          <a:xfrm>
            <a:off x="649224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48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49224" y="2276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Post a requirement</a:t>
            </a:r>
            <a:endParaRPr lang="en-US" sz="1150" dirty="0"/>
          </a:p>
        </p:txBody>
      </p:sp>
      <p:sp>
        <p:nvSpPr>
          <p:cNvPr id="11" name="Text 9"/>
          <p:cNvSpPr/>
          <p:nvPr/>
        </p:nvSpPr>
        <p:spPr>
          <a:xfrm>
            <a:off x="649224" y="256032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Effort, urgency and skills required — visible to every team.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3035808" y="2249424"/>
            <a:ext cx="329184" cy="237744"/>
          </a:xfrm>
          <a:prstGeom prst="chevron">
            <a:avLst/>
          </a:prstGeom>
          <a:solidFill>
            <a:srgbClr val="D8B2A4"/>
          </a:solidFill>
          <a:ln/>
        </p:spPr>
      </p:sp>
      <p:sp>
        <p:nvSpPr>
          <p:cNvPr id="13" name="Shape 11"/>
          <p:cNvSpPr/>
          <p:nvPr/>
        </p:nvSpPr>
        <p:spPr>
          <a:xfrm>
            <a:off x="3383280" y="1783080"/>
            <a:ext cx="2514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529584" y="1920240"/>
            <a:ext cx="292608" cy="292608"/>
          </a:xfrm>
          <a:prstGeom prst="ellipse">
            <a:avLst/>
          </a:prstGeom>
          <a:solidFill>
            <a:srgbClr val="F3E3DC"/>
          </a:solidFill>
          <a:ln/>
        </p:spPr>
      </p:sp>
      <p:sp>
        <p:nvSpPr>
          <p:cNvPr id="15" name="Text 13"/>
          <p:cNvSpPr/>
          <p:nvPr/>
        </p:nvSpPr>
        <p:spPr>
          <a:xfrm>
            <a:off x="3529584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48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3529584" y="2276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Apply with a fit score</a:t>
            </a:r>
            <a:endParaRPr lang="en-US" sz="1150" dirty="0"/>
          </a:p>
        </p:txBody>
      </p:sp>
      <p:sp>
        <p:nvSpPr>
          <p:cNvPr id="17" name="Text 15"/>
          <p:cNvSpPr/>
          <p:nvPr/>
        </p:nvSpPr>
        <p:spPr>
          <a:xfrm>
            <a:off x="3529584" y="256032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 overlap plus real remaining bandwidth, not a guess.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5916168" y="2249424"/>
            <a:ext cx="329184" cy="237744"/>
          </a:xfrm>
          <a:prstGeom prst="chevron">
            <a:avLst/>
          </a:prstGeom>
          <a:solidFill>
            <a:srgbClr val="D8B2A4"/>
          </a:solidFill>
          <a:ln/>
        </p:spPr>
      </p:sp>
      <p:sp>
        <p:nvSpPr>
          <p:cNvPr id="19" name="Shape 17"/>
          <p:cNvSpPr/>
          <p:nvPr/>
        </p:nvSpPr>
        <p:spPr>
          <a:xfrm>
            <a:off x="6263640" y="1783080"/>
            <a:ext cx="2514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409944" y="1920240"/>
            <a:ext cx="292608" cy="292608"/>
          </a:xfrm>
          <a:prstGeom prst="ellipse">
            <a:avLst/>
          </a:prstGeom>
          <a:solidFill>
            <a:srgbClr val="F3E3DC"/>
          </a:solidFill>
          <a:ln/>
        </p:spPr>
      </p:sp>
      <p:sp>
        <p:nvSpPr>
          <p:cNvPr id="21" name="Text 19"/>
          <p:cNvSpPr/>
          <p:nvPr/>
        </p:nvSpPr>
        <p:spPr>
          <a:xfrm>
            <a:off x="6409944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48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6409944" y="2276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Capacity-checked approval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6409944" y="256032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Manager reviews declared hours; can approve with conditions.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8796528" y="2249424"/>
            <a:ext cx="329184" cy="237744"/>
          </a:xfrm>
          <a:prstGeom prst="chevron">
            <a:avLst/>
          </a:prstGeom>
          <a:solidFill>
            <a:srgbClr val="D8B2A4"/>
          </a:solidFill>
          <a:ln/>
        </p:spPr>
      </p:sp>
      <p:sp>
        <p:nvSpPr>
          <p:cNvPr id="25" name="Shape 23"/>
          <p:cNvSpPr/>
          <p:nvPr/>
        </p:nvSpPr>
        <p:spPr>
          <a:xfrm>
            <a:off x="9144000" y="1783080"/>
            <a:ext cx="2514600" cy="1170432"/>
          </a:xfrm>
          <a:prstGeom prst="roundRect">
            <a:avLst>
              <a:gd name="adj" fmla="val 7031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9290304" y="1920240"/>
            <a:ext cx="292608" cy="292608"/>
          </a:xfrm>
          <a:prstGeom prst="ellipse">
            <a:avLst/>
          </a:prstGeom>
          <a:solidFill>
            <a:srgbClr val="F3E3DC"/>
          </a:solidFill>
          <a:ln/>
        </p:spPr>
      </p:sp>
      <p:sp>
        <p:nvSpPr>
          <p:cNvPr id="27" name="Text 25"/>
          <p:cNvSpPr/>
          <p:nvPr/>
        </p:nvSpPr>
        <p:spPr>
          <a:xfrm>
            <a:off x="9290304" y="1920240"/>
            <a:ext cx="29260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A548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9290304" y="2276856"/>
            <a:ext cx="222199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1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Recognition &amp; growth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9290304" y="2560320"/>
            <a:ext cx="22219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050"/>
              </a:lnSpc>
              <a:buNone/>
            </a:pPr>
            <a:r>
              <a:rPr lang="en-US" sz="8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become history — tiers, milestones, recognition.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502920" y="2953512"/>
            <a:ext cx="5486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INSIDE THE PLATFORM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502920" y="3291840"/>
            <a:ext cx="91440" cy="91440"/>
          </a:xfrm>
          <a:prstGeom prst="ellipse">
            <a:avLst/>
          </a:prstGeom>
          <a:solidFill>
            <a:srgbClr val="A5482C"/>
          </a:solidFill>
          <a:ln/>
        </p:spPr>
      </p:sp>
      <p:sp>
        <p:nvSpPr>
          <p:cNvPr id="32" name="Text 30"/>
          <p:cNvSpPr/>
          <p:nvPr/>
        </p:nvSpPr>
        <p:spPr>
          <a:xfrm>
            <a:off x="704088" y="320954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Opportunities</a:t>
            </a:r>
            <a:endParaRPr lang="en-US" sz="1250" dirty="0"/>
          </a:p>
        </p:txBody>
      </p:sp>
      <p:sp>
        <p:nvSpPr>
          <p:cNvPr id="33" name="Text 31"/>
          <p:cNvSpPr/>
          <p:nvPr/>
        </p:nvSpPr>
        <p:spPr>
          <a:xfrm>
            <a:off x="704088" y="344728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Projects &amp; PoCs beyond the day job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383280" y="3291840"/>
            <a:ext cx="91440" cy="91440"/>
          </a:xfrm>
          <a:prstGeom prst="ellipse">
            <a:avLst/>
          </a:prstGeom>
          <a:solidFill>
            <a:srgbClr val="A5482C"/>
          </a:solidFill>
          <a:ln/>
        </p:spPr>
      </p:sp>
      <p:sp>
        <p:nvSpPr>
          <p:cNvPr id="35" name="Text 33"/>
          <p:cNvSpPr/>
          <p:nvPr/>
        </p:nvSpPr>
        <p:spPr>
          <a:xfrm>
            <a:off x="3584448" y="320954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People &amp; Skills</a:t>
            </a:r>
            <a:endParaRPr lang="en-US" sz="1250" dirty="0"/>
          </a:p>
        </p:txBody>
      </p:sp>
      <p:sp>
        <p:nvSpPr>
          <p:cNvPr id="36" name="Text 34"/>
          <p:cNvSpPr/>
          <p:nvPr/>
        </p:nvSpPr>
        <p:spPr>
          <a:xfrm>
            <a:off x="3584448" y="344728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Directory &amp; collaboration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502920" y="4206240"/>
            <a:ext cx="91440" cy="91440"/>
          </a:xfrm>
          <a:prstGeom prst="ellipse">
            <a:avLst/>
          </a:prstGeom>
          <a:solidFill>
            <a:srgbClr val="A5482C"/>
          </a:solidFill>
          <a:ln/>
        </p:spPr>
      </p:sp>
      <p:sp>
        <p:nvSpPr>
          <p:cNvPr id="38" name="Text 36"/>
          <p:cNvSpPr/>
          <p:nvPr/>
        </p:nvSpPr>
        <p:spPr>
          <a:xfrm>
            <a:off x="704088" y="412394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Approvals</a:t>
            </a:r>
            <a:endParaRPr lang="en-US" sz="1250" dirty="0"/>
          </a:p>
        </p:txBody>
      </p:sp>
      <p:sp>
        <p:nvSpPr>
          <p:cNvPr id="39" name="Text 37"/>
          <p:cNvSpPr/>
          <p:nvPr/>
        </p:nvSpPr>
        <p:spPr>
          <a:xfrm>
            <a:off x="704088" y="436168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Capacity-checked team requests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3383280" y="4206240"/>
            <a:ext cx="91440" cy="91440"/>
          </a:xfrm>
          <a:prstGeom prst="ellipse">
            <a:avLst/>
          </a:prstGeom>
          <a:solidFill>
            <a:srgbClr val="A5482C"/>
          </a:solidFill>
          <a:ln/>
        </p:spPr>
      </p:sp>
      <p:sp>
        <p:nvSpPr>
          <p:cNvPr id="41" name="Text 39"/>
          <p:cNvSpPr/>
          <p:nvPr/>
        </p:nvSpPr>
        <p:spPr>
          <a:xfrm>
            <a:off x="3584448" y="412394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Achievements</a:t>
            </a:r>
            <a:endParaRPr lang="en-US" sz="1250" dirty="0"/>
          </a:p>
        </p:txBody>
      </p:sp>
      <p:sp>
        <p:nvSpPr>
          <p:cNvPr id="42" name="Text 40"/>
          <p:cNvSpPr/>
          <p:nvPr/>
        </p:nvSpPr>
        <p:spPr>
          <a:xfrm>
            <a:off x="3584448" y="436168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Tier, milestones &amp; recognition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502920" y="5120640"/>
            <a:ext cx="91440" cy="91440"/>
          </a:xfrm>
          <a:prstGeom prst="ellipse">
            <a:avLst/>
          </a:prstGeom>
          <a:solidFill>
            <a:srgbClr val="A5482C"/>
          </a:solidFill>
          <a:ln/>
        </p:spPr>
      </p:sp>
      <p:sp>
        <p:nvSpPr>
          <p:cNvPr id="44" name="Text 42"/>
          <p:cNvSpPr/>
          <p:nvPr/>
        </p:nvSpPr>
        <p:spPr>
          <a:xfrm>
            <a:off x="704088" y="503834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Beyond Work</a:t>
            </a:r>
            <a:endParaRPr lang="en-US" sz="1250" dirty="0"/>
          </a:p>
        </p:txBody>
      </p:sp>
      <p:sp>
        <p:nvSpPr>
          <p:cNvPr id="45" name="Text 43"/>
          <p:cNvSpPr/>
          <p:nvPr/>
        </p:nvSpPr>
        <p:spPr>
          <a:xfrm>
            <a:off x="704088" y="527608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Marketplace, carpool &amp; communities</a:t>
            </a:r>
            <a:endParaRPr lang="en-US" sz="950" dirty="0"/>
          </a:p>
        </p:txBody>
      </p:sp>
      <p:sp>
        <p:nvSpPr>
          <p:cNvPr id="46" name="Shape 44"/>
          <p:cNvSpPr/>
          <p:nvPr/>
        </p:nvSpPr>
        <p:spPr>
          <a:xfrm>
            <a:off x="3383280" y="5120640"/>
            <a:ext cx="91440" cy="91440"/>
          </a:xfrm>
          <a:prstGeom prst="ellipse">
            <a:avLst/>
          </a:prstGeom>
          <a:solidFill>
            <a:srgbClr val="A5482C"/>
          </a:solidFill>
          <a:ln/>
        </p:spPr>
      </p:sp>
      <p:sp>
        <p:nvSpPr>
          <p:cNvPr id="47" name="Text 45"/>
          <p:cNvSpPr/>
          <p:nvPr/>
        </p:nvSpPr>
        <p:spPr>
          <a:xfrm>
            <a:off x="3584448" y="5038344"/>
            <a:ext cx="240487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C1C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Admin Console</a:t>
            </a:r>
            <a:endParaRPr lang="en-US" sz="1250" dirty="0"/>
          </a:p>
        </p:txBody>
      </p:sp>
      <p:sp>
        <p:nvSpPr>
          <p:cNvPr id="48" name="Text 46"/>
          <p:cNvSpPr/>
          <p:nvPr/>
        </p:nvSpPr>
        <p:spPr>
          <a:xfrm>
            <a:off x="3584448" y="5276088"/>
            <a:ext cx="24048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50"/>
              </a:lnSpc>
              <a:buNone/>
            </a:pPr>
            <a:r>
              <a:rPr lang="en-US" sz="95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Accounts, registrations &amp; audit</a:t>
            </a:r>
            <a:endParaRPr lang="en-US" sz="950" dirty="0"/>
          </a:p>
        </p:txBody>
      </p:sp>
      <p:sp>
        <p:nvSpPr>
          <p:cNvPr id="49" name="Shape 47"/>
          <p:cNvSpPr/>
          <p:nvPr/>
        </p:nvSpPr>
        <p:spPr>
          <a:xfrm>
            <a:off x="6355080" y="3246120"/>
            <a:ext cx="5333695" cy="274320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2700">
            <a:solidFill>
              <a:srgbClr val="E4E2DB"/>
            </a:solidFill>
            <a:prstDash val="solid"/>
          </a:ln>
          <a:effectLst>
            <a:outerShdw sx="100000" sy="100000" kx="0" ky="0" algn="bl" rotWithShape="0" blurRad="177800" dist="63500" dir="5400000">
              <a:srgbClr val="000000">
                <a:alpha val="1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537960" y="3401568"/>
            <a:ext cx="73152" cy="73152"/>
          </a:xfrm>
          <a:prstGeom prst="ellipse">
            <a:avLst/>
          </a:prstGeom>
          <a:solidFill>
            <a:srgbClr val="D9A8A0"/>
          </a:solidFill>
          <a:ln/>
        </p:spPr>
      </p:sp>
      <p:sp>
        <p:nvSpPr>
          <p:cNvPr id="51" name="Shape 49"/>
          <p:cNvSpPr/>
          <p:nvPr/>
        </p:nvSpPr>
        <p:spPr>
          <a:xfrm>
            <a:off x="6711696" y="3401568"/>
            <a:ext cx="73152" cy="73152"/>
          </a:xfrm>
          <a:prstGeom prst="ellipse">
            <a:avLst/>
          </a:prstGeom>
          <a:solidFill>
            <a:srgbClr val="E6D3A3"/>
          </a:solidFill>
          <a:ln/>
        </p:spPr>
      </p:sp>
      <p:sp>
        <p:nvSpPr>
          <p:cNvPr id="52" name="Shape 50"/>
          <p:cNvSpPr/>
          <p:nvPr/>
        </p:nvSpPr>
        <p:spPr>
          <a:xfrm>
            <a:off x="6885432" y="3401568"/>
            <a:ext cx="73152" cy="73152"/>
          </a:xfrm>
          <a:prstGeom prst="ellipse">
            <a:avLst/>
          </a:prstGeom>
          <a:solidFill>
            <a:srgbClr val="AECFB8"/>
          </a:solidFill>
          <a:ln/>
        </p:spPr>
      </p:sp>
      <p:sp>
        <p:nvSpPr>
          <p:cNvPr id="53" name="Text 51"/>
          <p:cNvSpPr/>
          <p:nvPr/>
        </p:nvSpPr>
        <p:spPr>
          <a:xfrm>
            <a:off x="7132320" y="3355848"/>
            <a:ext cx="21945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0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mbxchange.internal</a:t>
            </a:r>
            <a:endParaRPr lang="en-US" sz="700" dirty="0"/>
          </a:p>
        </p:txBody>
      </p:sp>
      <p:sp>
        <p:nvSpPr>
          <p:cNvPr id="54" name="Shape 52"/>
          <p:cNvSpPr/>
          <p:nvPr/>
        </p:nvSpPr>
        <p:spPr>
          <a:xfrm>
            <a:off x="6355080" y="3575304"/>
            <a:ext cx="5333695" cy="10973"/>
          </a:xfrm>
          <a:prstGeom prst="rect">
            <a:avLst/>
          </a:prstGeom>
          <a:solidFill>
            <a:srgbClr val="E4E2DB"/>
          </a:solidFill>
          <a:ln/>
        </p:spPr>
      </p:sp>
      <p:sp>
        <p:nvSpPr>
          <p:cNvPr id="55" name="Shape 53"/>
          <p:cNvSpPr/>
          <p:nvPr/>
        </p:nvSpPr>
        <p:spPr>
          <a:xfrm>
            <a:off x="6510528" y="3703320"/>
            <a:ext cx="2438248" cy="512064"/>
          </a:xfrm>
          <a:prstGeom prst="roundRect">
            <a:avLst>
              <a:gd name="adj" fmla="val 10714"/>
            </a:avLst>
          </a:prstGeom>
          <a:solidFill>
            <a:srgbClr val="FAF9F5"/>
          </a:solidFill>
          <a:ln/>
        </p:spPr>
      </p:sp>
      <p:sp>
        <p:nvSpPr>
          <p:cNvPr id="56" name="Text 54"/>
          <p:cNvSpPr/>
          <p:nvPr/>
        </p:nvSpPr>
        <p:spPr>
          <a:xfrm>
            <a:off x="6620256" y="3767328"/>
            <a:ext cx="2218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spc="30" kern="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OPPORTUNITIES</a:t>
            </a:r>
            <a:endParaRPr lang="en-US" sz="580" dirty="0"/>
          </a:p>
        </p:txBody>
      </p:sp>
      <p:sp>
        <p:nvSpPr>
          <p:cNvPr id="57" name="Text 55"/>
          <p:cNvSpPr/>
          <p:nvPr/>
        </p:nvSpPr>
        <p:spPr>
          <a:xfrm>
            <a:off x="6620256" y="3959352"/>
            <a:ext cx="221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Across every team</a:t>
            </a:r>
            <a:endParaRPr lang="en-US" sz="750" dirty="0"/>
          </a:p>
        </p:txBody>
      </p:sp>
      <p:sp>
        <p:nvSpPr>
          <p:cNvPr id="58" name="Shape 56"/>
          <p:cNvSpPr/>
          <p:nvPr/>
        </p:nvSpPr>
        <p:spPr>
          <a:xfrm>
            <a:off x="9095080" y="3703320"/>
            <a:ext cx="2438248" cy="512064"/>
          </a:xfrm>
          <a:prstGeom prst="roundRect">
            <a:avLst>
              <a:gd name="adj" fmla="val 10714"/>
            </a:avLst>
          </a:prstGeom>
          <a:solidFill>
            <a:srgbClr val="FAF9F5"/>
          </a:solidFill>
          <a:ln/>
        </p:spPr>
      </p:sp>
      <p:sp>
        <p:nvSpPr>
          <p:cNvPr id="59" name="Text 57"/>
          <p:cNvSpPr/>
          <p:nvPr/>
        </p:nvSpPr>
        <p:spPr>
          <a:xfrm>
            <a:off x="9204808" y="3767328"/>
            <a:ext cx="2218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spc="30" kern="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 PENDING REQUESTS</a:t>
            </a:r>
            <a:endParaRPr lang="en-US" sz="580" dirty="0"/>
          </a:p>
        </p:txBody>
      </p:sp>
      <p:sp>
        <p:nvSpPr>
          <p:cNvPr id="60" name="Text 58"/>
          <p:cNvSpPr/>
          <p:nvPr/>
        </p:nvSpPr>
        <p:spPr>
          <a:xfrm>
            <a:off x="9204808" y="3959352"/>
            <a:ext cx="221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a decision</a:t>
            </a:r>
            <a:endParaRPr lang="en-US" sz="750" dirty="0"/>
          </a:p>
        </p:txBody>
      </p:sp>
      <p:sp>
        <p:nvSpPr>
          <p:cNvPr id="61" name="Shape 59"/>
          <p:cNvSpPr/>
          <p:nvPr/>
        </p:nvSpPr>
        <p:spPr>
          <a:xfrm>
            <a:off x="6510528" y="4306824"/>
            <a:ext cx="2438248" cy="512064"/>
          </a:xfrm>
          <a:prstGeom prst="roundRect">
            <a:avLst>
              <a:gd name="adj" fmla="val 10714"/>
            </a:avLst>
          </a:prstGeom>
          <a:solidFill>
            <a:srgbClr val="FAF9F5"/>
          </a:solidFill>
          <a:ln/>
        </p:spPr>
      </p:sp>
      <p:sp>
        <p:nvSpPr>
          <p:cNvPr id="62" name="Text 60"/>
          <p:cNvSpPr/>
          <p:nvPr/>
        </p:nvSpPr>
        <p:spPr>
          <a:xfrm>
            <a:off x="6620256" y="4370832"/>
            <a:ext cx="2218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spc="30" kern="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ENGAGEMENTS</a:t>
            </a:r>
            <a:endParaRPr lang="en-US" sz="580" dirty="0"/>
          </a:p>
        </p:txBody>
      </p:sp>
      <p:sp>
        <p:nvSpPr>
          <p:cNvPr id="63" name="Text 61"/>
          <p:cNvSpPr/>
          <p:nvPr/>
        </p:nvSpPr>
        <p:spPr>
          <a:xfrm>
            <a:off x="6620256" y="4562856"/>
            <a:ext cx="221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 now</a:t>
            </a:r>
            <a:endParaRPr lang="en-US" sz="750" dirty="0"/>
          </a:p>
        </p:txBody>
      </p:sp>
      <p:sp>
        <p:nvSpPr>
          <p:cNvPr id="64" name="Shape 62"/>
          <p:cNvSpPr/>
          <p:nvPr/>
        </p:nvSpPr>
        <p:spPr>
          <a:xfrm>
            <a:off x="9095080" y="4306824"/>
            <a:ext cx="2438248" cy="512064"/>
          </a:xfrm>
          <a:prstGeom prst="roundRect">
            <a:avLst>
              <a:gd name="adj" fmla="val 10714"/>
            </a:avLst>
          </a:prstGeom>
          <a:solidFill>
            <a:srgbClr val="FAF9F5"/>
          </a:solidFill>
          <a:ln/>
        </p:spPr>
      </p:sp>
      <p:sp>
        <p:nvSpPr>
          <p:cNvPr id="65" name="Text 63"/>
          <p:cNvSpPr/>
          <p:nvPr/>
        </p:nvSpPr>
        <p:spPr>
          <a:xfrm>
            <a:off x="9204808" y="4370832"/>
            <a:ext cx="221879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80" b="1" spc="30" kern="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APPROVALS WAITING ON ME</a:t>
            </a:r>
            <a:endParaRPr lang="en-US" sz="580" dirty="0"/>
          </a:p>
        </p:txBody>
      </p:sp>
      <p:sp>
        <p:nvSpPr>
          <p:cNvPr id="66" name="Text 64"/>
          <p:cNvSpPr/>
          <p:nvPr/>
        </p:nvSpPr>
        <p:spPr>
          <a:xfrm>
            <a:off x="9204808" y="4562856"/>
            <a:ext cx="22187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5C5B5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managers</a:t>
            </a:r>
            <a:endParaRPr lang="en-US" sz="750" dirty="0"/>
          </a:p>
        </p:txBody>
      </p:sp>
      <p:sp>
        <p:nvSpPr>
          <p:cNvPr id="67" name="Text 65"/>
          <p:cNvSpPr/>
          <p:nvPr/>
        </p:nvSpPr>
        <p:spPr>
          <a:xfrm>
            <a:off x="6510528" y="5038344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50" b="1" spc="30" kern="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TIER</a:t>
            </a:r>
            <a:endParaRPr lang="en-US" sz="650" dirty="0"/>
          </a:p>
        </p:txBody>
      </p:sp>
      <p:sp>
        <p:nvSpPr>
          <p:cNvPr id="68" name="Shape 66"/>
          <p:cNvSpPr/>
          <p:nvPr/>
        </p:nvSpPr>
        <p:spPr>
          <a:xfrm>
            <a:off x="6510528" y="5239512"/>
            <a:ext cx="5022799" cy="621792"/>
          </a:xfrm>
          <a:prstGeom prst="roundRect">
            <a:avLst>
              <a:gd name="adj" fmla="val 10294"/>
            </a:avLst>
          </a:prstGeom>
          <a:solidFill>
            <a:srgbClr val="F3E3DC"/>
          </a:solidFill>
          <a:ln/>
        </p:spPr>
      </p:sp>
      <p:sp>
        <p:nvSpPr>
          <p:cNvPr id="69" name="Text 67"/>
          <p:cNvSpPr/>
          <p:nvPr/>
        </p:nvSpPr>
        <p:spPr>
          <a:xfrm>
            <a:off x="6647688" y="5303520"/>
            <a:ext cx="21945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A5482C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Catalyst</a:t>
            </a:r>
            <a:endParaRPr lang="en-US" sz="1250" dirty="0"/>
          </a:p>
        </p:txBody>
      </p:sp>
      <p:sp>
        <p:nvSpPr>
          <p:cNvPr id="70" name="Text 68"/>
          <p:cNvSpPr/>
          <p:nvPr/>
        </p:nvSpPr>
        <p:spPr>
          <a:xfrm>
            <a:off x="6647688" y="5559552"/>
            <a:ext cx="474847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30" dirty="0">
                <a:solidFill>
                  <a:srgbClr val="8C665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Contributor › Collaborator › Connector › Catalyst › Principal</a:t>
            </a:r>
            <a:endParaRPr lang="en-US" sz="630" dirty="0"/>
          </a:p>
        </p:txBody>
      </p:sp>
      <p:sp>
        <p:nvSpPr>
          <p:cNvPr id="71" name="Shape 69"/>
          <p:cNvSpPr/>
          <p:nvPr/>
        </p:nvSpPr>
        <p:spPr>
          <a:xfrm>
            <a:off x="6647688" y="5751576"/>
            <a:ext cx="4748479" cy="73152"/>
          </a:xfrm>
          <a:prstGeom prst="roundRect">
            <a:avLst>
              <a:gd name="adj" fmla="val 50000"/>
            </a:avLst>
          </a:prstGeom>
          <a:solidFill>
            <a:srgbClr val="E9D3C8"/>
          </a:solidFill>
          <a:ln/>
        </p:spPr>
      </p:sp>
      <p:sp>
        <p:nvSpPr>
          <p:cNvPr id="72" name="Shape 70"/>
          <p:cNvSpPr/>
          <p:nvPr/>
        </p:nvSpPr>
        <p:spPr>
          <a:xfrm>
            <a:off x="6647688" y="5751576"/>
            <a:ext cx="2944057" cy="73152"/>
          </a:xfrm>
          <a:prstGeom prst="roundRect">
            <a:avLst>
              <a:gd name="adj" fmla="val 50000"/>
            </a:avLst>
          </a:prstGeom>
          <a:solidFill>
            <a:srgbClr val="A5482C"/>
          </a:solidFill>
          <a:ln/>
        </p:spPr>
      </p:sp>
      <p:sp>
        <p:nvSpPr>
          <p:cNvPr id="73" name="Text 71"/>
          <p:cNvSpPr/>
          <p:nvPr/>
        </p:nvSpPr>
        <p:spPr>
          <a:xfrm>
            <a:off x="502920" y="6400800"/>
            <a:ext cx="8686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MBXchange  ·  React 19 + Vite  ·  Express  ·  PostgreSQL</a:t>
            </a:r>
            <a:endParaRPr lang="en-US" sz="900" dirty="0"/>
          </a:p>
        </p:txBody>
      </p:sp>
      <p:sp>
        <p:nvSpPr>
          <p:cNvPr id="74" name="Text 72"/>
          <p:cNvSpPr/>
          <p:nvPr/>
        </p:nvSpPr>
        <p:spPr>
          <a:xfrm>
            <a:off x="11231575" y="640080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8A88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2026-08-25T05:47:13Z</dcterms:created>
  <dcterms:modified xsi:type="dcterms:W3CDTF">2026-08-25T05:47:13Z</dcterms:modified>
</cp:coreProperties>
</file>