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MBXchange makes an exchange that already happens informally findable, decidable and creditable. Say "bandwidth people choose to offer" — never "spare capacity". This is not a performance or resourcing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steps, then point at the surfaces. Do not read the cards out — they are signposts for the live demo. The mock on the right is the real Opportunities view in miniature.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and Q2 decide the room. On Q1: none of those tools carry an approval or a record of what was given. On Q4: the score is private to the person and their manager, it feeds no review, and the platform is positioned for upskilling and collaboration, not advancement.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here for questions. Slide 3 lists the four we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8992" y="4389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pPr indent="0" marL="0">
              <a:buNone/>
            </a:pPr>
            <a:r>
              <a:rPr lang="en-US" sz="1700" b="1" dirty="0">
                <a:solidFill>
                  <a:srgbClr val="69A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700" dirty="0"/>
          </a:p>
        </p:txBody>
      </p:sp>
      <p:sp>
        <p:nvSpPr>
          <p:cNvPr id="4" name="Shape 1"/>
          <p:cNvSpPr/>
          <p:nvPr/>
        </p:nvSpPr>
        <p:spPr>
          <a:xfrm>
            <a:off x="2542032" y="498348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141B24"/>
          </a:solidFill>
          <a:ln w="12700">
            <a:solidFill>
              <a:srgbClr val="232D3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542032" y="49834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69A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78992" y="7863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 ·  Collaborate  ·  Contribute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240280"/>
            <a:ext cx="7863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beyond</a:t>
            </a:r>
            <a:endParaRPr lang="en-US" sz="4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day-to-day work.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521208" y="4041648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3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the help you need, offer the hours and skills you want to bring, and let every request move through the right approvals — recorded as a history of what was actually done.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5088636"/>
            <a:ext cx="82296" cy="82296"/>
          </a:xfrm>
          <a:prstGeom prst="ellipse">
            <a:avLst/>
          </a:prstGeom>
          <a:solidFill>
            <a:srgbClr val="69AAF2"/>
          </a:solidFill>
          <a:ln w="12700">
            <a:solidFill>
              <a:srgbClr val="69AA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49834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what you need, and see who genuinely fits it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5454396"/>
            <a:ext cx="82296" cy="82296"/>
          </a:xfrm>
          <a:prstGeom prst="ellipse">
            <a:avLst/>
          </a:prstGeom>
          <a:solidFill>
            <a:srgbClr val="69AAF2"/>
          </a:solidFill>
          <a:ln w="12700">
            <a:solidFill>
              <a:srgbClr val="69AA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53492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the bandwidth you choose to bring, not what a calendar implies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5820156"/>
            <a:ext cx="82296" cy="82296"/>
          </a:xfrm>
          <a:prstGeom prst="ellipse">
            <a:avLst/>
          </a:prstGeom>
          <a:solidFill>
            <a:srgbClr val="69AAF2"/>
          </a:solidFill>
          <a:ln w="12700">
            <a:solidFill>
              <a:srgbClr val="69AA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57150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where skills are scarce, and the sessions that close the gap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732520" y="1508760"/>
            <a:ext cx="10973" cy="4160520"/>
          </a:xfrm>
          <a:prstGeom prst="rect">
            <a:avLst/>
          </a:prstGeom>
          <a:solidFill>
            <a:srgbClr val="232D39"/>
          </a:solidFill>
          <a:ln w="12700">
            <a:solidFill>
              <a:srgbClr val="232D3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06840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 ROLE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006840" y="21945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Post, apply, host a session, and recognise the people you worked with.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006840" y="2971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006840" y="32461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against the bandwidth somebody actually offered, with the facts on the request.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00684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006840" y="429768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the badge and tier system, reporting and the audit trail.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2920" y="598932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76DD0"/>
          </a:solidFill>
          <a:ln w="12700">
            <a:solidFill>
              <a:srgbClr val="176DD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2920" y="5989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148840" y="598932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41B24"/>
          </a:solidFill>
          <a:ln w="12700">
            <a:solidFill>
              <a:srgbClr val="232D3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148840" y="5989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3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▸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6400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 internal platform  ·  Access provisioned by your administrator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371600" cy="329184"/>
          </a:xfrm>
          <a:prstGeom prst="roundRect">
            <a:avLst>
              <a:gd name="adj" fmla="val 19444"/>
            </a:avLst>
          </a:prstGeom>
          <a:solidFill>
            <a:srgbClr val="E9EDF3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◂  Overview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595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MBXchange works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1673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posted requirement to recognised, completed work.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514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CBD2DC"/>
            </a:solidFill>
            <a:prstDash val="solid"/>
          </a:ln>
          <a:effectLst>
            <a:outerShdw sx="100000" sy="100000" kx="0" ky="0" algn="bl" rotWithShape="0" blurRad="127000" dist="25400" dir="5400000">
              <a:srgbClr val="1B2736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192024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9224" y="227685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requirement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9224" y="256032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effort, skills and seats — visible to every team.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81528" y="2286000"/>
            <a:ext cx="237744" cy="164592"/>
          </a:xfrm>
          <a:prstGeom prst="rightArrow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783080"/>
            <a:ext cx="2514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CBD2DC"/>
            </a:solidFill>
            <a:prstDash val="solid"/>
          </a:ln>
          <a:effectLst>
            <a:outerShdw sx="100000" sy="100000" kx="0" ky="0" algn="bl" rotWithShape="0" blurRad="127000" dist="25400" dir="5400000">
              <a:srgbClr val="1B2736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9584" y="192024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9584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227685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well it fits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529584" y="256032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overlap and the bandwidth you have offered.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61888" y="2286000"/>
            <a:ext cx="237744" cy="164592"/>
          </a:xfrm>
          <a:prstGeom prst="rightArrow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783080"/>
            <a:ext cx="2514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CBD2DC"/>
            </a:solidFill>
            <a:prstDash val="solid"/>
          </a:ln>
          <a:effectLst>
            <a:outerShdw sx="100000" sy="100000" kx="0" ky="0" algn="bl" rotWithShape="0" blurRad="127000" dist="25400" dir="5400000">
              <a:srgbClr val="1B2736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9944" y="192024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9944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227685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approval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256032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 decides first, then your line manager.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842248" y="2286000"/>
            <a:ext cx="237744" cy="164592"/>
          </a:xfrm>
          <a:prstGeom prst="rightArrow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1783080"/>
            <a:ext cx="2514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CBD2DC"/>
            </a:solidFill>
            <a:prstDash val="solid"/>
          </a:ln>
          <a:effectLst>
            <a:outerShdw sx="100000" sy="100000" kx="0" ky="0" algn="bl" rotWithShape="0" blurRad="127000" dist="25400" dir="5400000">
              <a:srgbClr val="1B2736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90304" y="192024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90304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90304" y="227685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290304" y="256032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badge from the people you actually worked with.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29535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PLATFORM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291840"/>
            <a:ext cx="91440" cy="91440"/>
          </a:xfrm>
          <a:prstGeom prst="ellipse">
            <a:avLst/>
          </a:prstGeom>
          <a:solidFill>
            <a:srgbClr val="176DD0"/>
          </a:solidFill>
          <a:ln w="12700">
            <a:solidFill>
              <a:srgbClr val="176DD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4088" y="320954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04088" y="344728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requirements, ranked by fit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3291840"/>
            <a:ext cx="91440" cy="91440"/>
          </a:xfrm>
          <a:prstGeom prst="ellipse">
            <a:avLst/>
          </a:prstGeom>
          <a:solidFill>
            <a:srgbClr val="107A9C"/>
          </a:solidFill>
          <a:ln w="12700">
            <a:solidFill>
              <a:srgbClr val="107A9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84448" y="320954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Skills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3584448" y="344728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capability and offered bandwidth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206240"/>
            <a:ext cx="91440" cy="91440"/>
          </a:xfrm>
          <a:prstGeom prst="ellipse">
            <a:avLst/>
          </a:prstGeom>
          <a:solidFill>
            <a:srgbClr val="128166"/>
          </a:solidFill>
          <a:ln w="12700">
            <a:solidFill>
              <a:srgbClr val="12816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04088" y="412394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04088" y="436168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sign-off on every request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83280" y="4206240"/>
            <a:ext cx="91440" cy="91440"/>
          </a:xfrm>
          <a:prstGeom prst="ellipse">
            <a:avLst/>
          </a:prstGeom>
          <a:solidFill>
            <a:srgbClr val="9A650D"/>
          </a:solidFill>
          <a:ln w="12700">
            <a:solidFill>
              <a:srgbClr val="9A650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584448" y="412394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3584448" y="436168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Colleague-run sessions on scarce skills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" y="5120640"/>
            <a:ext cx="91440" cy="91440"/>
          </a:xfrm>
          <a:prstGeom prst="ellipse">
            <a:avLst/>
          </a:prstGeom>
          <a:solidFill>
            <a:srgbClr val="6758C8"/>
          </a:solidFill>
          <a:ln w="12700">
            <a:solidFill>
              <a:srgbClr val="6758C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04088" y="503834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04088" y="527608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skills are short, and team reporting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83280" y="5120640"/>
            <a:ext cx="91440" cy="91440"/>
          </a:xfrm>
          <a:prstGeom prst="ellipse">
            <a:avLst/>
          </a:prstGeom>
          <a:solidFill>
            <a:srgbClr val="0E6D8C"/>
          </a:solidFill>
          <a:ln w="12700">
            <a:solidFill>
              <a:srgbClr val="0E6D8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584448" y="503834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3584448" y="527608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and tiers, configurable by an admin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55080" y="3246120"/>
            <a:ext cx="5330952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2DC"/>
            </a:solidFill>
            <a:prstDash val="solid"/>
          </a:ln>
          <a:effectLst>
            <a:outerShdw sx="100000" sy="100000" kx="0" ky="0" algn="bl" rotWithShape="0" blurRad="127000" dist="25400" dir="5400000">
              <a:srgbClr val="1B2736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537960" y="3401568"/>
            <a:ext cx="73152" cy="73152"/>
          </a:xfrm>
          <a:prstGeom prst="ellipse">
            <a:avLst/>
          </a:prstGeom>
          <a:solidFill>
            <a:srgbClr val="D96B63"/>
          </a:solidFill>
          <a:ln w="12700">
            <a:solidFill>
              <a:srgbClr val="D96B6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11696" y="3401568"/>
            <a:ext cx="73152" cy="73152"/>
          </a:xfrm>
          <a:prstGeom prst="ellipse">
            <a:avLst/>
          </a:prstGeom>
          <a:solidFill>
            <a:srgbClr val="DEB44F"/>
          </a:solidFill>
          <a:ln w="12700">
            <a:solidFill>
              <a:srgbClr val="DEB44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85432" y="3401568"/>
            <a:ext cx="73152" cy="73152"/>
          </a:xfrm>
          <a:prstGeom prst="ellipse">
            <a:avLst/>
          </a:prstGeom>
          <a:solidFill>
            <a:srgbClr val="5FAE86"/>
          </a:solidFill>
          <a:ln w="12700">
            <a:solidFill>
              <a:srgbClr val="5FAE8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32320" y="3346704"/>
            <a:ext cx="2011680" cy="182880"/>
          </a:xfrm>
          <a:prstGeom prst="roundRect">
            <a:avLst>
              <a:gd name="adj" fmla="val 25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196328" y="33467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mbxchange.internal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355080" y="3575304"/>
            <a:ext cx="5330952" cy="7315"/>
          </a:xfrm>
          <a:prstGeom prst="rect">
            <a:avLst/>
          </a:prstGeom>
          <a:solidFill>
            <a:srgbClr val="E7EBF1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55080" y="3582619"/>
            <a:ext cx="896112" cy="2406701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46520" y="3703320"/>
            <a:ext cx="713232" cy="182880"/>
          </a:xfrm>
          <a:prstGeom prst="roundRect">
            <a:avLst>
              <a:gd name="adj" fmla="val 25000"/>
            </a:avLst>
          </a:prstGeom>
          <a:solidFill>
            <a:srgbClr val="176DD0"/>
          </a:solidFill>
          <a:ln w="12700">
            <a:solidFill>
              <a:srgbClr val="176DD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446520" y="370332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 Request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483096" y="4027932"/>
            <a:ext cx="82296" cy="82296"/>
          </a:xfrm>
          <a:prstGeom prst="roundRect">
            <a:avLst>
              <a:gd name="adj" fmla="val 22222"/>
            </a:avLst>
          </a:prstGeom>
          <a:solidFill>
            <a:srgbClr val="B9C3CF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601968" y="3995928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20" dirty="0"/>
          </a:p>
        </p:txBody>
      </p:sp>
      <p:sp>
        <p:nvSpPr>
          <p:cNvPr id="60" name="Shape 58"/>
          <p:cNvSpPr/>
          <p:nvPr/>
        </p:nvSpPr>
        <p:spPr>
          <a:xfrm>
            <a:off x="6419088" y="4183380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83096" y="4242816"/>
            <a:ext cx="82296" cy="82296"/>
          </a:xfrm>
          <a:prstGeom prst="roundRect">
            <a:avLst>
              <a:gd name="adj" fmla="val 22222"/>
            </a:avLst>
          </a:prstGeom>
          <a:solidFill>
            <a:srgbClr val="176DD0"/>
          </a:solidFill>
          <a:ln w="12700">
            <a:solidFill>
              <a:srgbClr val="176DD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601968" y="4210812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17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620" dirty="0"/>
          </a:p>
        </p:txBody>
      </p:sp>
      <p:sp>
        <p:nvSpPr>
          <p:cNvPr id="63" name="Shape 61"/>
          <p:cNvSpPr/>
          <p:nvPr/>
        </p:nvSpPr>
        <p:spPr>
          <a:xfrm>
            <a:off x="6483096" y="4457700"/>
            <a:ext cx="82296" cy="82296"/>
          </a:xfrm>
          <a:prstGeom prst="roundRect">
            <a:avLst>
              <a:gd name="adj" fmla="val 22222"/>
            </a:avLst>
          </a:prstGeom>
          <a:solidFill>
            <a:srgbClr val="B9C3CF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601968" y="4425696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Skills</a:t>
            </a:r>
            <a:endParaRPr lang="en-US" sz="620" dirty="0"/>
          </a:p>
        </p:txBody>
      </p:sp>
      <p:sp>
        <p:nvSpPr>
          <p:cNvPr id="65" name="Shape 63"/>
          <p:cNvSpPr/>
          <p:nvPr/>
        </p:nvSpPr>
        <p:spPr>
          <a:xfrm>
            <a:off x="6483096" y="4672584"/>
            <a:ext cx="82296" cy="82296"/>
          </a:xfrm>
          <a:prstGeom prst="roundRect">
            <a:avLst>
              <a:gd name="adj" fmla="val 22222"/>
            </a:avLst>
          </a:prstGeom>
          <a:solidFill>
            <a:srgbClr val="B9C3CF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601968" y="464058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Requests</a:t>
            </a:r>
            <a:endParaRPr lang="en-US" sz="620" dirty="0"/>
          </a:p>
        </p:txBody>
      </p:sp>
      <p:sp>
        <p:nvSpPr>
          <p:cNvPr id="67" name="Shape 65"/>
          <p:cNvSpPr/>
          <p:nvPr/>
        </p:nvSpPr>
        <p:spPr>
          <a:xfrm>
            <a:off x="6483096" y="4887468"/>
            <a:ext cx="82296" cy="82296"/>
          </a:xfrm>
          <a:prstGeom prst="roundRect">
            <a:avLst>
              <a:gd name="adj" fmla="val 22222"/>
            </a:avLst>
          </a:prstGeom>
          <a:solidFill>
            <a:srgbClr val="B9C3CF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601968" y="4855464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620" dirty="0"/>
          </a:p>
        </p:txBody>
      </p:sp>
      <p:sp>
        <p:nvSpPr>
          <p:cNvPr id="69" name="Shape 67"/>
          <p:cNvSpPr/>
          <p:nvPr/>
        </p:nvSpPr>
        <p:spPr>
          <a:xfrm>
            <a:off x="6483096" y="5102352"/>
            <a:ext cx="82296" cy="82296"/>
          </a:xfrm>
          <a:prstGeom prst="roundRect">
            <a:avLst>
              <a:gd name="adj" fmla="val 22222"/>
            </a:avLst>
          </a:prstGeom>
          <a:solidFill>
            <a:srgbClr val="B9C3CF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601968" y="5070348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620" dirty="0"/>
          </a:p>
        </p:txBody>
      </p:sp>
      <p:sp>
        <p:nvSpPr>
          <p:cNvPr id="71" name="Shape 69"/>
          <p:cNvSpPr/>
          <p:nvPr/>
        </p:nvSpPr>
        <p:spPr>
          <a:xfrm>
            <a:off x="7379208" y="3703320"/>
            <a:ext cx="1737360" cy="182880"/>
          </a:xfrm>
          <a:prstGeom prst="roundRect">
            <a:avLst>
              <a:gd name="adj" fmla="val 25000"/>
            </a:avLst>
          </a:prstGeom>
          <a:solidFill>
            <a:srgbClr val="F1F4F8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452360" y="37033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3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title, tag, author…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11356848" y="3703320"/>
            <a:ext cx="182880" cy="182880"/>
          </a:xfrm>
          <a:prstGeom prst="ellipse">
            <a:avLst/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1356848" y="37033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7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7379208" y="4014216"/>
            <a:ext cx="148132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88936" y="4178808"/>
            <a:ext cx="402336" cy="402336"/>
          </a:xfrm>
          <a:prstGeom prst="ellipse">
            <a:avLst/>
          </a:prstGeom>
          <a:solidFill>
            <a:srgbClr val="E7EFFA"/>
          </a:solidFill>
          <a:ln w="25400">
            <a:solidFill>
              <a:srgbClr val="176DD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488936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7964424" y="4160520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spc="40" kern="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SCORE</a:t>
            </a:r>
            <a:endParaRPr lang="en-US" sz="500" dirty="0"/>
          </a:p>
        </p:txBody>
      </p:sp>
      <p:sp>
        <p:nvSpPr>
          <p:cNvPr id="79" name="Text 77"/>
          <p:cNvSpPr txBox="1"/>
          <p:nvPr/>
        </p:nvSpPr>
        <p:spPr>
          <a:xfrm>
            <a:off x="7964424" y="428853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964424" y="4507992"/>
            <a:ext cx="786384" cy="54864"/>
          </a:xfrm>
          <a:prstGeom prst="roundRect">
            <a:avLst>
              <a:gd name="adj" fmla="val 50000"/>
            </a:avLst>
          </a:prstGeom>
          <a:solidFill>
            <a:srgbClr val="E7EBF1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964424" y="4507992"/>
            <a:ext cx="658368" cy="54864"/>
          </a:xfrm>
          <a:prstGeom prst="roundRect">
            <a:avLst>
              <a:gd name="adj" fmla="val 50000"/>
            </a:avLst>
          </a:prstGeom>
          <a:solidFill>
            <a:srgbClr val="176DD0"/>
          </a:solidFill>
          <a:ln w="12700">
            <a:solidFill>
              <a:srgbClr val="176DD0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7964424" y="4590288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210h contributed</a:t>
            </a:r>
            <a:endParaRPr lang="en-US" sz="520" dirty="0"/>
          </a:p>
        </p:txBody>
      </p:sp>
      <p:sp>
        <p:nvSpPr>
          <p:cNvPr id="83" name="Shape 81"/>
          <p:cNvSpPr/>
          <p:nvPr/>
        </p:nvSpPr>
        <p:spPr>
          <a:xfrm>
            <a:off x="8970264" y="4014216"/>
            <a:ext cx="10972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9061704" y="4059936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spc="40" kern="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500" dirty="0"/>
          </a:p>
        </p:txBody>
      </p:sp>
      <p:sp>
        <p:nvSpPr>
          <p:cNvPr id="85" name="Text 83"/>
          <p:cNvSpPr txBox="1"/>
          <p:nvPr/>
        </p:nvSpPr>
        <p:spPr>
          <a:xfrm>
            <a:off x="9061704" y="4169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970264" y="4471416"/>
            <a:ext cx="10972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061704" y="4562856"/>
            <a:ext cx="502920" cy="64008"/>
          </a:xfrm>
          <a:prstGeom prst="roundRect">
            <a:avLst>
              <a:gd name="adj" fmla="val 42857"/>
            </a:avLst>
          </a:prstGeom>
          <a:solidFill>
            <a:srgbClr val="E7EBF1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061704" y="4672584"/>
            <a:ext cx="310896" cy="100584"/>
          </a:xfrm>
          <a:prstGeom prst="roundRect">
            <a:avLst>
              <a:gd name="adj" fmla="val 27273"/>
            </a:avLst>
          </a:prstGeom>
          <a:solidFill>
            <a:srgbClr val="D8DFE8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140696" y="4014216"/>
            <a:ext cx="10972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0232136" y="4059936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spc="40" kern="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500" dirty="0"/>
          </a:p>
        </p:txBody>
      </p:sp>
      <p:sp>
        <p:nvSpPr>
          <p:cNvPr id="91" name="Text 89"/>
          <p:cNvSpPr txBox="1"/>
          <p:nvPr/>
        </p:nvSpPr>
        <p:spPr>
          <a:xfrm>
            <a:off x="10232136" y="4169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10140696" y="4471416"/>
            <a:ext cx="10972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232136" y="4562856"/>
            <a:ext cx="502920" cy="64008"/>
          </a:xfrm>
          <a:prstGeom prst="roundRect">
            <a:avLst>
              <a:gd name="adj" fmla="val 42857"/>
            </a:avLst>
          </a:prstGeom>
          <a:solidFill>
            <a:srgbClr val="E7EBF1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232136" y="4672584"/>
            <a:ext cx="310896" cy="100584"/>
          </a:xfrm>
          <a:prstGeom prst="roundRect">
            <a:avLst>
              <a:gd name="adj" fmla="val 27273"/>
            </a:avLst>
          </a:prstGeom>
          <a:solidFill>
            <a:srgbClr val="D8DFE8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79208" y="4983480"/>
            <a:ext cx="404164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488936" y="5102352"/>
            <a:ext cx="118872" cy="50292"/>
          </a:xfrm>
          <a:prstGeom prst="roundRect">
            <a:avLst>
              <a:gd name="adj" fmla="val 45455"/>
            </a:avLst>
          </a:prstGeom>
          <a:solidFill>
            <a:srgbClr val="128166"/>
          </a:solidFill>
          <a:ln w="12700">
            <a:solidFill>
              <a:srgbClr val="12816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635240" y="5102352"/>
            <a:ext cx="118872" cy="50292"/>
          </a:xfrm>
          <a:prstGeom prst="roundRect">
            <a:avLst>
              <a:gd name="adj" fmla="val 45455"/>
            </a:avLst>
          </a:prstGeom>
          <a:solidFill>
            <a:srgbClr val="128166"/>
          </a:solidFill>
          <a:ln w="12700">
            <a:solidFill>
              <a:srgbClr val="12816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781544" y="5102352"/>
            <a:ext cx="118872" cy="50292"/>
          </a:xfrm>
          <a:prstGeom prst="roundRect">
            <a:avLst>
              <a:gd name="adj" fmla="val 45455"/>
            </a:avLst>
          </a:prstGeom>
          <a:solidFill>
            <a:srgbClr val="128166"/>
          </a:solidFill>
          <a:ln w="12700">
            <a:solidFill>
              <a:srgbClr val="128166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7946136" y="50474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12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match</a:t>
            </a:r>
            <a:endParaRPr lang="en-US" sz="580" dirty="0"/>
          </a:p>
        </p:txBody>
      </p:sp>
      <p:sp>
        <p:nvSpPr>
          <p:cNvPr id="100" name="Shape 98"/>
          <p:cNvSpPr/>
          <p:nvPr/>
        </p:nvSpPr>
        <p:spPr>
          <a:xfrm>
            <a:off x="8714232" y="5065776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8714232" y="506577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PT-THIF</a:t>
            </a:r>
            <a:endParaRPr lang="en-US" sz="500" dirty="0"/>
          </a:p>
        </p:txBody>
      </p:sp>
      <p:sp>
        <p:nvSpPr>
          <p:cNvPr id="102" name="Shape 100"/>
          <p:cNvSpPr/>
          <p:nvPr/>
        </p:nvSpPr>
        <p:spPr>
          <a:xfrm>
            <a:off x="9189720" y="5065776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9189720" y="506577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500" dirty="0"/>
          </a:p>
        </p:txBody>
      </p:sp>
      <p:sp>
        <p:nvSpPr>
          <p:cNvPr id="104" name="Text 102"/>
          <p:cNvSpPr txBox="1"/>
          <p:nvPr/>
        </p:nvSpPr>
        <p:spPr>
          <a:xfrm>
            <a:off x="7488936" y="52486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for the shared platform VPC</a:t>
            </a:r>
            <a:endParaRPr lang="en-US" sz="800" dirty="0"/>
          </a:p>
        </p:txBody>
      </p:sp>
      <p:sp>
        <p:nvSpPr>
          <p:cNvPr id="105" name="Text 103"/>
          <p:cNvSpPr txBox="1"/>
          <p:nvPr/>
        </p:nvSpPr>
        <p:spPr>
          <a:xfrm>
            <a:off x="7488936" y="5440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hours total  ·  MBRDI Bengaluru  ·  2 of 2 seats open</a:t>
            </a:r>
            <a:endParaRPr lang="en-US" sz="580" dirty="0"/>
          </a:p>
        </p:txBody>
      </p:sp>
      <p:sp>
        <p:nvSpPr>
          <p:cNvPr id="106" name="Shape 104"/>
          <p:cNvSpPr/>
          <p:nvPr/>
        </p:nvSpPr>
        <p:spPr>
          <a:xfrm>
            <a:off x="10689336" y="5385816"/>
            <a:ext cx="621792" cy="201168"/>
          </a:xfrm>
          <a:prstGeom prst="roundRect">
            <a:avLst>
              <a:gd name="adj" fmla="val 22727"/>
            </a:avLst>
          </a:prstGeom>
          <a:solidFill>
            <a:srgbClr val="176DD0"/>
          </a:solidFill>
          <a:ln w="12700">
            <a:solidFill>
              <a:srgbClr val="176DD0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10689336" y="538581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</a:t>
            </a:r>
            <a:endParaRPr lang="en-US" sz="580" dirty="0"/>
          </a:p>
        </p:txBody>
      </p:sp>
      <p:sp>
        <p:nvSpPr>
          <p:cNvPr id="108" name="Text 106"/>
          <p:cNvSpPr txBox="1"/>
          <p:nvPr/>
        </p:nvSpPr>
        <p:spPr>
          <a:xfrm>
            <a:off x="502920" y="6400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MBXchange  ·  React 19 + Vite  ·  Express  ·  PostgreSQL</a:t>
            </a:r>
            <a:endParaRPr lang="en-US" sz="950" dirty="0"/>
          </a:p>
        </p:txBody>
      </p:sp>
      <p:sp>
        <p:nvSpPr>
          <p:cNvPr id="109" name="Text 107"/>
          <p:cNvSpPr txBox="1"/>
          <p:nvPr/>
        </p:nvSpPr>
        <p:spPr>
          <a:xfrm>
            <a:off x="112288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03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worth asking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704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here deliberately — we will take these live.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773936"/>
            <a:ext cx="11185855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CBD2DC"/>
            </a:solidFill>
            <a:prstDash val="solid"/>
          </a:ln>
          <a:effectLst>
            <a:outerShdw sx="100000" sy="100000" kx="0" ky="0" algn="bl" rotWithShape="0" blurRad="127000" dist="25400" dir="5400000">
              <a:srgbClr val="1B27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75688"/>
            <a:ext cx="365760" cy="365760"/>
          </a:xfrm>
          <a:prstGeom prst="ellipse">
            <a:avLst/>
          </a:prstGeom>
          <a:solidFill>
            <a:srgbClr val="176DD0"/>
          </a:solidFill>
          <a:ln w="12700">
            <a:solidFill>
              <a:srgbClr val="176D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975104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have Teams, Viva and an internal job board. What does this do that they do not?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944368"/>
            <a:ext cx="11185855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CBD2DC"/>
            </a:solidFill>
            <a:prstDash val="solid"/>
          </a:ln>
          <a:effectLst>
            <a:outerShdw sx="100000" sy="100000" kx="0" ky="0" algn="bl" rotWithShape="0" blurRad="127000" dist="25400" dir="5400000">
              <a:srgbClr val="1B273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3246120"/>
            <a:ext cx="365760" cy="365760"/>
          </a:xfrm>
          <a:prstGeom prst="ellipse">
            <a:avLst/>
          </a:prstGeom>
          <a:solidFill>
            <a:srgbClr val="107A9C"/>
          </a:solidFill>
          <a:ln w="12700">
            <a:solidFill>
              <a:srgbClr val="107A9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3145536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somebody gives hours to another team, whose budget carries that — and how do we keep it from pulling against committed delivery?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114800"/>
            <a:ext cx="11185855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CBD2DC"/>
            </a:solidFill>
            <a:prstDash val="solid"/>
          </a:ln>
          <a:effectLst>
            <a:outerShdw sx="100000" sy="100000" kx="0" ky="0" algn="bl" rotWithShape="0" blurRad="127000" dist="25400" dir="5400000">
              <a:srgbClr val="1B2736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416552"/>
            <a:ext cx="365760" cy="365760"/>
          </a:xfrm>
          <a:prstGeom prst="ellipse">
            <a:avLst/>
          </a:prstGeom>
          <a:solidFill>
            <a:srgbClr val="9A650D"/>
          </a:solidFill>
          <a:ln w="12700">
            <a:solidFill>
              <a:srgbClr val="9A650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389888" y="4315968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stops this becoming another tool nobody opens after month two?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285232"/>
            <a:ext cx="11185855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CBD2DC"/>
            </a:solidFill>
            <a:prstDash val="solid"/>
          </a:ln>
          <a:effectLst>
            <a:outerShdw sx="100000" sy="100000" kx="0" ky="0" algn="bl" rotWithShape="0" blurRad="127000" dist="25400" dir="5400000">
              <a:srgbClr val="1B273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5586984"/>
            <a:ext cx="365760" cy="365760"/>
          </a:xfrm>
          <a:prstGeom prst="ellipse">
            <a:avLst/>
          </a:prstGeom>
          <a:solidFill>
            <a:srgbClr val="6758C8"/>
          </a:solidFill>
          <a:ln w="12700">
            <a:solidFill>
              <a:srgbClr val="6758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586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389888" y="5486400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data sits against named people. How do we keep it from being read as a performance signal?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00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MBXchange  ·  Overview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12288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69164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301752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5364328" y="4005072"/>
            <a:ext cx="1463040" cy="12802"/>
          </a:xfrm>
          <a:prstGeom prst="rect">
            <a:avLst/>
          </a:prstGeom>
          <a:solidFill>
            <a:srgbClr val="232D39"/>
          </a:solidFill>
          <a:ln w="12700">
            <a:solidFill>
              <a:srgbClr val="232D3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0" y="4224528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pPr algn="ctr" indent="0" marL="0">
              <a:buNone/>
            </a:pPr>
            <a:r>
              <a:rPr lang="en-US" sz="1700" b="1" dirty="0">
                <a:solidFill>
                  <a:srgbClr val="69A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0" y="4553712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pc="100" kern="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 ·  Collaborate  ·  Contribute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0" y="513892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400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 internal platform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2288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MBXchange Overview</dc:title>
  <dc:subject>PptxGenJS Presentation</dc:subject>
  <dc:creator>MBXchange</dc:creator>
  <cp:lastModifiedBy>MBXchange</cp:lastModifiedBy>
  <cp:revision>1</cp:revision>
  <dcterms:created xsi:type="dcterms:W3CDTF">2026-08-27T03:09:31Z</dcterms:created>
  <dcterms:modified xsi:type="dcterms:W3CDTF">2026-08-27T03:09:31Z</dcterms:modified>
</cp:coreProperties>
</file>